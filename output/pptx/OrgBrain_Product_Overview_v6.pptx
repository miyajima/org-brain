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5c2fb149cd412c" /><Relationship Type="http://schemas.openxmlformats.org/officeDocument/2006/relationships/extended-properties" Target="/docProps/app.xml" Id="R4a8a2e97dfe14609" /><Relationship Type="http://schemas.openxmlformats.org/officeDocument/2006/relationships/officeDocument" Target="/ppt/presentation.xml" Id="Ra2bf9f09885e44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9a86c490a84467"/>
  </p:sldMasterIdLst>
  <p:notesMasterIdLst>
    <p:notesMasterId xmlns:r="http://schemas.openxmlformats.org/officeDocument/2006/relationships" r:id="Rb7539c6d9c6044a8"/>
  </p:notesMasterIdLst>
  <p:sldIdLst>
    <p:sldId xmlns:r="http://schemas.openxmlformats.org/officeDocument/2006/relationships" id="256" r:id="R9f2ed4d7590c46ac"/>
    <p:sldId xmlns:r="http://schemas.openxmlformats.org/officeDocument/2006/relationships" id="257" r:id="R50c7d4f3800542f8"/>
    <p:sldId xmlns:r="http://schemas.openxmlformats.org/officeDocument/2006/relationships" id="258" r:id="Rbe7b1846d4514e86"/>
    <p:sldId xmlns:r="http://schemas.openxmlformats.org/officeDocument/2006/relationships" id="259" r:id="R82557db5afaa4784"/>
    <p:sldId xmlns:r="http://schemas.openxmlformats.org/officeDocument/2006/relationships" id="260" r:id="R967352e2c8564445"/>
    <p:sldId xmlns:r="http://schemas.openxmlformats.org/officeDocument/2006/relationships" id="261" r:id="Re8135f825fbb45e5"/>
    <p:sldId xmlns:r="http://schemas.openxmlformats.org/officeDocument/2006/relationships" id="262" r:id="R2f5bdaf26817472c"/>
    <p:sldId xmlns:r="http://schemas.openxmlformats.org/officeDocument/2006/relationships" id="263" r:id="Rf8f8b17d4a6b4291"/>
    <p:sldId xmlns:r="http://schemas.openxmlformats.org/officeDocument/2006/relationships" id="264" r:id="R6283867e5bfd4949"/>
    <p:sldId xmlns:r="http://schemas.openxmlformats.org/officeDocument/2006/relationships" id="265" r:id="Rf0b19e84a51f453e"/>
    <p:sldId xmlns:r="http://schemas.openxmlformats.org/officeDocument/2006/relationships" id="266" r:id="Rd15da971585e48ad"/>
    <p:sldId xmlns:r="http://schemas.openxmlformats.org/officeDocument/2006/relationships" id="267" r:id="Rc5d71e4033094416"/>
    <p:sldId xmlns:r="http://schemas.openxmlformats.org/officeDocument/2006/relationships" id="268" r:id="Rd3179a5925c3489e"/>
    <p:sldId xmlns:r="http://schemas.openxmlformats.org/officeDocument/2006/relationships" id="269" r:id="R841675238fd44917"/>
    <p:sldId xmlns:r="http://schemas.openxmlformats.org/officeDocument/2006/relationships" id="270" r:id="Red4793110a494bb6"/>
    <p:sldId xmlns:r="http://schemas.openxmlformats.org/officeDocument/2006/relationships" id="271" r:id="R8c5a3e890cd74441"/>
    <p:sldId xmlns:r="http://schemas.openxmlformats.org/officeDocument/2006/relationships" id="272" r:id="Rb2320b88c00b4631"/>
    <p:sldId xmlns:r="http://schemas.openxmlformats.org/officeDocument/2006/relationships" id="273" r:id="R29ba2b2c23604c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02bbf9a92f435d" /><Relationship Type="http://schemas.openxmlformats.org/officeDocument/2006/relationships/slideMaster" Target="/ppt/slideMasters/slideMaster1.xml" Id="Rdd9a86c490a84467" /><Relationship Type="http://schemas.openxmlformats.org/officeDocument/2006/relationships/notesMaster" Target="/ppt/notesMasters/notesMaster1.xml" Id="Rb7539c6d9c6044a8" /><Relationship Type="http://schemas.openxmlformats.org/officeDocument/2006/relationships/presProps" Target="/ppt/presProps.xml" Id="R83b16c291ea0482e" /><Relationship Type="http://schemas.openxmlformats.org/officeDocument/2006/relationships/tableStyles" Target="/ppt/tableStyles.xml" Id="R0ab450a679a942e9" /><Relationship Type="http://schemas.openxmlformats.org/officeDocument/2006/relationships/slide" Target="/ppt/slides/slide1.xml" Id="R9f2ed4d7590c46ac" /><Relationship Type="http://schemas.openxmlformats.org/officeDocument/2006/relationships/slide" Target="/ppt/slides/slide2.xml" Id="R50c7d4f3800542f8" /><Relationship Type="http://schemas.openxmlformats.org/officeDocument/2006/relationships/slide" Target="/ppt/slides/slide3.xml" Id="Rbe7b1846d4514e86" /><Relationship Type="http://schemas.openxmlformats.org/officeDocument/2006/relationships/slide" Target="/ppt/slides/slide4.xml" Id="R82557db5afaa4784" /><Relationship Type="http://schemas.openxmlformats.org/officeDocument/2006/relationships/slide" Target="/ppt/slides/slide5.xml" Id="R967352e2c8564445" /><Relationship Type="http://schemas.openxmlformats.org/officeDocument/2006/relationships/slide" Target="/ppt/slides/slide6.xml" Id="Re8135f825fbb45e5" /><Relationship Type="http://schemas.openxmlformats.org/officeDocument/2006/relationships/slide" Target="/ppt/slides/slide7.xml" Id="R2f5bdaf26817472c" /><Relationship Type="http://schemas.openxmlformats.org/officeDocument/2006/relationships/slide" Target="/ppt/slides/slide8.xml" Id="Rf8f8b17d4a6b4291" /><Relationship Type="http://schemas.openxmlformats.org/officeDocument/2006/relationships/slide" Target="/ppt/slides/slide9.xml" Id="R6283867e5bfd4949" /><Relationship Type="http://schemas.openxmlformats.org/officeDocument/2006/relationships/slide" Target="/ppt/slides/slide10.xml" Id="Rf0b19e84a51f453e" /><Relationship Type="http://schemas.openxmlformats.org/officeDocument/2006/relationships/slide" Target="/ppt/slides/slide11.xml" Id="Rd15da971585e48ad" /><Relationship Type="http://schemas.openxmlformats.org/officeDocument/2006/relationships/slide" Target="/ppt/slides/slide12.xml" Id="Rc5d71e4033094416" /><Relationship Type="http://schemas.openxmlformats.org/officeDocument/2006/relationships/slide" Target="/ppt/slides/slide13.xml" Id="Rd3179a5925c3489e" /><Relationship Type="http://schemas.openxmlformats.org/officeDocument/2006/relationships/slide" Target="/ppt/slides/slide14.xml" Id="R841675238fd44917" /><Relationship Type="http://schemas.openxmlformats.org/officeDocument/2006/relationships/slide" Target="/ppt/slides/slide15.xml" Id="Red4793110a494bb6" /><Relationship Type="http://schemas.openxmlformats.org/officeDocument/2006/relationships/slide" Target="/ppt/slides/slide16.xml" Id="R8c5a3e890cd74441" /><Relationship Type="http://schemas.openxmlformats.org/officeDocument/2006/relationships/slide" Target="/ppt/slides/slide17.xml" Id="Rb2320b88c00b4631" /><Relationship Type="http://schemas.openxmlformats.org/officeDocument/2006/relationships/slide" Target="/ppt/slides/slide18.xml" Id="R29ba2b2c23604c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605f28b6584a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c86917ccb94a5a" /><Relationship Type="http://schemas.openxmlformats.org/officeDocument/2006/relationships/notesMaster" Target="/ppt/notesMasters/notesMaster1.xml" Id="R07ca8f29d79545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75b6cfd04d4645" /><Relationship Type="http://schemas.openxmlformats.org/officeDocument/2006/relationships/notesMaster" Target="/ppt/notesMasters/notesMaster1.xml" Id="R7b5a11d377324a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d2d9f3e5fa4484" /><Relationship Type="http://schemas.openxmlformats.org/officeDocument/2006/relationships/notesMaster" Target="/ppt/notesMasters/notesMaster1.xml" Id="Ra712b84dd05940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d87f9af6d9412a" /><Relationship Type="http://schemas.openxmlformats.org/officeDocument/2006/relationships/notesMaster" Target="/ppt/notesMasters/notesMaster1.xml" Id="R6aa7d48dd71f4d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dc35188adf4c9b" /><Relationship Type="http://schemas.openxmlformats.org/officeDocument/2006/relationships/notesMaster" Target="/ppt/notesMasters/notesMaster1.xml" Id="Ra42d65748a304f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e72f61671b4af0" /><Relationship Type="http://schemas.openxmlformats.org/officeDocument/2006/relationships/notesMaster" Target="/ppt/notesMasters/notesMaster1.xml" Id="Rf409602da6174e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a8f99255094941" /><Relationship Type="http://schemas.openxmlformats.org/officeDocument/2006/relationships/notesMaster" Target="/ppt/notesMasters/notesMaster1.xml" Id="R44bb720b99804f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79cd0fe713402a" /><Relationship Type="http://schemas.openxmlformats.org/officeDocument/2006/relationships/notesMaster" Target="/ppt/notesMasters/notesMaster1.xml" Id="R20743410d4994e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1d798862874f18" /><Relationship Type="http://schemas.openxmlformats.org/officeDocument/2006/relationships/notesMaster" Target="/ppt/notesMasters/notesMaster1.xml" Id="R0895c241b87a4e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eaccbb8e88439e" /><Relationship Type="http://schemas.openxmlformats.org/officeDocument/2006/relationships/notesMaster" Target="/ppt/notesMasters/notesMaster1.xml" Id="R74e73cafcd2a4a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c00094cdd14920" /><Relationship Type="http://schemas.openxmlformats.org/officeDocument/2006/relationships/notesMaster" Target="/ppt/notesMasters/notesMaster1.xml" Id="R843b1aa3bdcd46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62ddb7aee84717" /><Relationship Type="http://schemas.openxmlformats.org/officeDocument/2006/relationships/notesMaster" Target="/ppt/notesMasters/notesMaster1.xml" Id="Rf1c5f4381b5c4c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f09c48d77441af" /><Relationship Type="http://schemas.openxmlformats.org/officeDocument/2006/relationships/notesMaster" Target="/ppt/notesMasters/notesMaster1.xml" Id="R16f7f5f091d84b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fd25ff243d4ffe" /><Relationship Type="http://schemas.openxmlformats.org/officeDocument/2006/relationships/notesMaster" Target="/ppt/notesMasters/notesMaster1.xml" Id="R6169a9a66e65486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953c47465fd46be" /><Relationship Type="http://schemas.openxmlformats.org/officeDocument/2006/relationships/notesMaster" Target="/ppt/notesMasters/notesMaster1.xml" Id="Rb3f94f092f3340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f9e70ddf48e4f3e" /><Relationship Type="http://schemas.openxmlformats.org/officeDocument/2006/relationships/notesMaster" Target="/ppt/notesMasters/notesMaster1.xml" Id="R42535e3f8eb548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127060140c43cb" /><Relationship Type="http://schemas.openxmlformats.org/officeDocument/2006/relationships/notesMaster" Target="/ppt/notesMasters/notesMaster1.xml" Id="Rf0b87393d702429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4e020b9c1e4847" /><Relationship Type="http://schemas.openxmlformats.org/officeDocument/2006/relationships/notesMaster" Target="/ppt/notesMasters/notesMaster1.xml" Id="Rb9961213366f49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accessed 2026-08-07.</a:t>
            </a:r>
          </a:p>
          <a:p xmlns:a="http://schemas.openxmlformats.org/drawingml/2006/main">
            <a:r>
              <a:t>- Generated visual: OpenAI Image Generation, organizational-memory-hero.png,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Summary of the product positioning, value model, pricing concept, and PoC proposal in this deck.</a:t>
            </a:r>
          </a:p>
          <a:p xmlns:a="http://schemas.openxmlformats.org/drawingml/2006/main">
            <a:r>
              <a:t>- Financial impact is an illustrative opportunity model,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sections The Problem and What OrgBrain Does, accessed 2026-08-07.</a:t>
            </a:r>
          </a:p>
          <a:p xmlns:a="http://schemas.openxmlformats.org/drawingml/2006/main">
            <a:r>
              <a:t>- packages/shared/src/memory-lifecycle-types.ts and apps/api-gateway/src/context-engine-service.ts.</a:t>
            </a:r>
          </a:p>
          <a:p xmlns:a="http://schemas.openxmlformats.org/drawingml/2006/main">
            <a:r>
              <a:t>- The AI answer is an illustrative output example,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3.</a:t>
            </a:r>
          </a:p>
          <a:p xmlns:a="http://schemas.openxmlformats.org/drawingml/2006/main">
            <a:r>
              <a:t>- Generated visual: OpenAI Image Generation, organizational-memory-loss-v2.png,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scenario based on the user-provided product concept;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Shared memory loop: Capture, Distill, Connect, Recall, accessed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packages/shared/src/memory-lifecycle-types.ts: MEMORY_KINDS, MEMORY_LIFECYCLE_STATES, MEMORY_SCOPES.</a:t>
            </a:r>
          </a:p>
          <a:p xmlns:a="http://schemas.openxmlformats.org/drawingml/2006/main">
            <a:r>
              <a:t>- apps/api-gateway/src/context-engine-service.ts: decision memory rationale, alternatives, constraints, source refs, versions, validity.</a:t>
            </a:r>
          </a:p>
          <a:p xmlns:a="http://schemas.openxmlformats.org/drawingml/2006/main">
            <a:r>
              <a:t>- The former four drawers came from the user-provided OrgBrain_AI_Memory.pdf and were not a formal implementation schema.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decision-memory example derived from the user-provided product positioning;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artifacts/benchmarks/2026-07-31/competitive-memory-reduced3-orgbrain-v4-fixed-repeat5.json.</a:t>
            </a:r>
          </a:p>
          <a:p xmlns:a="http://schemas.openxmlformats.org/drawingml/2006/main">
            <a:r>
              <a:t>- artifacts/benchmarks/2026-07-31/competitive-memory-reduced3-local-repeat5.json.</a:t>
            </a:r>
          </a:p>
          <a:p xmlns:a="http://schemas.openxmlformats.org/drawingml/2006/main">
            <a:r>
              <a:t>- artifacts/benchmarks/2026-07-31/competitive-memory-reduced3-hindsight-repeat1.json.</a:t>
            </a:r>
          </a:p>
          <a:p xmlns:a="http://schemas.openxmlformats.org/drawingml/2006/main">
            <a:r>
              <a:t>- Hindsight Pass^5 is omitted because its available result is repeat1. Mnemosyne latency is omitted because it was faster than OrgBrain.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8. Figures are presented as illustrative estimates, not reported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this as an opportunity model, not a guaranteed result. Confirm the customer's volumes and adoption assumptions before using it as an ROI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slides 6-7.</a:t>
            </a:r>
          </a:p>
          <a:p xmlns:a="http://schemas.openxmlformats.org/drawingml/2006/main">
            <a:r>
              <a:t>- Updated illustrative recurrence scenario: 12 repeated incidents per year × JPY500,000 impact per incident × 50% avoided = JPY3,000,000.</a:t>
            </a:r>
          </a:p>
          <a:p xmlns:a="http://schemas.openxmlformats.org/drawingml/2006/main">
            <a:r>
              <a:t>- The incident impact represents developer investigation, rollback, QA, review, and urgent response; it is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apps/cap-runner/src/retrieval-metrics.ts and migrations/0004_retrieval_metrics.sql.</a:t>
            </a:r>
          </a:p>
          <a:p xmlns:a="http://schemas.openxmlformats.org/drawingml/2006/main">
            <a:r>
              <a:t>- apps/api-gateway/src/memory-impact-service.ts and migrations/0018_memory_impact.sql.</a:t>
            </a:r>
          </a:p>
          <a:p xmlns:a="http://schemas.openxmlformats.org/drawingml/2006/main">
            <a:r>
              <a:t>- apps/cap-runner/src/index.ts: measurement_variants and measurement_comparisons writes.</a:t>
            </a:r>
          </a:p>
          <a:p xmlns:a="http://schemas.openxmlformats.org/drawingml/2006/main">
            <a:r>
              <a:t>- apps/api-gateway/src/operations-service.ts and migrations/0015_rbac_audit.sql.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pricing philosophy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plan names and price images in the Codex task, 2026-08-07. Plan positioning is an illustrative packaging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billing components in the Codex task, 2026-08-07.</a:t>
            </a:r>
          </a:p>
          <a:p xmlns:a="http://schemas.openxmlformats.org/drawingml/2006/main">
            <a:r>
              <a:t>- Unit prices are an illustrative packaging proposal added for this revision; they are not approved or published prices.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Choose Your Mode section, accessed 2026-08-07.</a:t>
            </a:r>
          </a:p>
          <a:p xmlns:a="http://schemas.openxmlformats.org/drawingml/2006/main">
            <a:r>
              <a:t>- User-provided managed plan concept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PoC approach proposed for this deck; schedule and targets should be tailored to the customer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repository: https://github.com/miyajima/org-brain, accessed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f9f6ddfbd48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ffb5c35db34e52" /><Relationship Type="http://schemas.openxmlformats.org/officeDocument/2006/relationships/slideLayout" Target="/ppt/slideLayouts/slideLayout1.xml" Id="R09e4f292192944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e4f292192944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2202c8fc64842" /><Relationship Type="http://schemas.openxmlformats.org/officeDocument/2006/relationships/image" Target="/ppt/media/image.png" Id="Rec19cdf24f164b51" /><Relationship Type="http://schemas.openxmlformats.org/officeDocument/2006/relationships/notesSlide" Target="/ppt/notesSlides/notesSlide1.xml" Id="Rf5d8c99bcbf146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3537dfdef427d" /><Relationship Type="http://schemas.openxmlformats.org/officeDocument/2006/relationships/notesSlide" Target="/ppt/notesSlides/notesSlide2.xml" Id="R2db46915393045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c72bcea4e4209" /><Relationship Type="http://schemas.openxmlformats.org/officeDocument/2006/relationships/notesSlide" Target="/ppt/notesSlides/notesSlide3.xml" Id="Rcf31b9c29e3543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a4fdd86574a07" /><Relationship Type="http://schemas.openxmlformats.org/officeDocument/2006/relationships/image" Target="/ppt/media/image2.png" Id="R4af614ea15194d05" /><Relationship Type="http://schemas.openxmlformats.org/officeDocument/2006/relationships/notesSlide" Target="/ppt/notesSlides/notesSlide4.xml" Id="R42b489d3f1db42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097d59b3b4848" /><Relationship Type="http://schemas.openxmlformats.org/officeDocument/2006/relationships/notesSlide" Target="/ppt/notesSlides/notesSlide5.xml" Id="Rfc9796e8c79141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5b399f1e343ee" /><Relationship Type="http://schemas.openxmlformats.org/officeDocument/2006/relationships/notesSlide" Target="/ppt/notesSlides/notesSlide6.xml" Id="Rd9181b20e2a04b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b18ab0f3a4cda" /><Relationship Type="http://schemas.openxmlformats.org/officeDocument/2006/relationships/notesSlide" Target="/ppt/notesSlides/notesSlide7.xml" Id="R328694600b864d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5dfd85cf54ec5" /><Relationship Type="http://schemas.openxmlformats.org/officeDocument/2006/relationships/notesSlide" Target="/ppt/notesSlides/notesSlide8.xml" Id="Rbb16a49c70094e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2a1d2653d4bfb" /><Relationship Type="http://schemas.openxmlformats.org/officeDocument/2006/relationships/notesSlide" Target="/ppt/notesSlides/notesSlide9.xml" Id="R4efd4d27920345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c935b407f417f" /><Relationship Type="http://schemas.openxmlformats.org/officeDocument/2006/relationships/notesSlide" Target="/ppt/notesSlides/notesSlide10.xml" Id="Rd6816af6a75048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2fc60a2444e6d" /><Relationship Type="http://schemas.openxmlformats.org/officeDocument/2006/relationships/notesSlide" Target="/ppt/notesSlides/notesSlide11.xml" Id="Rcd4ed4924d4740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7b095cf854950" /><Relationship Type="http://schemas.openxmlformats.org/officeDocument/2006/relationships/notesSlide" Target="/ppt/notesSlides/notesSlide12.xml" Id="Rdddb35cf8e8748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26b9951ef4a68" /><Relationship Type="http://schemas.openxmlformats.org/officeDocument/2006/relationships/notesSlide" Target="/ppt/notesSlides/notesSlide13.xml" Id="R331c4ce3f19d4d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36dce86c0449e" /><Relationship Type="http://schemas.openxmlformats.org/officeDocument/2006/relationships/notesSlide" Target="/ppt/notesSlides/notesSlide14.xml" Id="Rfaabce876dc142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35c097bf347ef" /><Relationship Type="http://schemas.openxmlformats.org/officeDocument/2006/relationships/notesSlide" Target="/ppt/notesSlides/notesSlide15.xml" Id="R5c25d1c41f45481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70ac172494253" /><Relationship Type="http://schemas.openxmlformats.org/officeDocument/2006/relationships/notesSlide" Target="/ppt/notesSlides/notesSlide16.xml" Id="R5aff16266dca46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37da4959d4d50" /><Relationship Type="http://schemas.openxmlformats.org/officeDocument/2006/relationships/notesSlide" Target="/ppt/notesSlides/notesSlide17.xml" Id="Rc4b130521a52469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924b22df64156" /><Relationship Type="http://schemas.openxmlformats.org/officeDocument/2006/relationships/notesSlide" Target="/ppt/notesSlides/notesSlide18.xml" Id="Rb4f86fa2a75b42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9cdf24f164b5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97A5B-EE34-414F-ACD9-584527C3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71C27-C805-4018-9AA5-6213361A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3FF"/>
                </a:solidFill>
              </a:defRPr>
            </a:pPr>
            <a:r>
              <a:rPr sz="105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BA428-470E-436C-9136-0FE9AC61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38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AIが動くたび、</a:t>
            </a:r>
          </a:p>
          <a:p xmlns:a="http://schemas.openxmlformats.org/drawingml/2006/main">
            <a:pPr algn="l"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ADE9C-0622-4865-BDD8-A4320231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判断の背景を、次のAI実行が使える組織知へ</a:t>
            </a:r>
          </a:p>
          <a:p xmlns:a="http://schemas.openxmlformats.org/drawingml/2006/main">
            <a:pPr algn="l"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理由・制約・結果を残し、同じ失敗を繰り返さない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B712F-FCF9-4059-9BFC-571F4FF2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3D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79B83-C200-4E59-93F7-A4043FB1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AI利用を、組織知に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7D12A-1859-4C16-B7A9-1BCD4C83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OrgBrain</a:t>
            </a:r>
          </a:p>
        </p:txBody>
      </p:sp>
    </p:spTree>
    <p:extLst>
      <p:ext uri="{BB962C8B-B14F-4D97-AF65-F5344CB8AC3E}">
        <p14:creationId xmlns:p14="http://schemas.microsoft.com/office/powerpoint/2010/main" val="17490663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D94871-DD22-40E0-AB15-112DB67D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BCA62-818C-420E-8AEA-4CB08BEE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69285-9CE9-4428-95EE-3FECB9A5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エグゼクティブサマリー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87B57-07D0-4465-8F09-16B40D4B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3441E-F727-494D-9E3F-066A3F80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C0A46-A382-4901-9100-82B7CD5B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53290-2CB6-40CA-806E-6126783B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9E8FF"/>
                </a:solidFill>
              </a:defRPr>
            </a:pPr>
            <a:r>
              <a:rPr sz="2250" b="1">
                <a:solidFill>
                  <a:srgbClr val="89E8FF"/>
                </a:solidFill>
              </a:rPr>
              <a:t>AI投資を、使い捨ての効率化から「蓄積する経営資産」へ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C8E8C-EF0D-48AF-8DD7-7EC26614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B4C7"/>
                </a:solidFill>
              </a:defRPr>
            </a:pPr>
            <a:r>
              <a:rPr sz="1500" b="1">
                <a:solidFill>
                  <a:srgbClr val="A8B4C7"/>
                </a:solidFill>
              </a:rPr>
              <a:t>経営課題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E0C8B-3292-42EA-A6F0-82AB12D5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907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AI活用が増えても、判断理由・失敗・暗黙知が残らず</a:t>
            </a:r>
          </a:p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検索・引き継ぎ・再作業コストが繰り返し発生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40529-0554-4F75-BAE5-5B8CE7EB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926C7-A800-4789-8E0F-27F268B9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B4C7"/>
                </a:solidFill>
              </a:defRPr>
            </a:pPr>
            <a:r>
              <a:rPr sz="1500" b="1">
                <a:solidFill>
                  <a:srgbClr val="A8B4C7"/>
                </a:solidFill>
              </a:rPr>
              <a:t>戦略価値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99D18-D5B6-4613-A934-66DB4BB7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670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仕事の痕跡から理由・制約・結果を組織メモリー化</a:t>
            </a:r>
          </a:p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次のAI実行が過去の学びを再利用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5A203-7C9C-4AC3-B6F7-525D8F23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43701-3328-4BD6-8FCA-CAA8BF69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9E8FF"/>
                </a:solidFill>
              </a:defRPr>
            </a:pPr>
            <a:r>
              <a:rPr sz="1500" b="1">
                <a:solidFill>
                  <a:srgbClr val="89E8FF"/>
                </a:solidFill>
              </a:rPr>
              <a:t>経済効果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40F5D-36D3-4444-B19D-5206C867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433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100人組織で年間約3,000万円・6,000時間の改善余地</a:t>
            </a:r>
          </a:p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属人化・退職・AI再失敗による経営リスクも低減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04B52-0B44-433A-AF3C-D80DD528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BE364C-24BD-46AF-B383-DCF16EA2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B4C7"/>
                </a:solidFill>
              </a:defRPr>
            </a:pPr>
            <a:r>
              <a:rPr sz="1500" b="1">
                <a:solidFill>
                  <a:srgbClr val="A8B4C7"/>
                </a:solidFill>
              </a:rPr>
              <a:t>導入判断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873709-D28A-4BD6-9EC8-CE649F14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196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全社員・全AIを組織単位でカバー</a:t>
            </a:r>
          </a:p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月3万円〜、1チーム・8週間のPoCで効果を定量評価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C179F0-E250-4920-87E3-F8E91233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D107E0-7BA4-4941-8EEC-60E06B59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57850"/>
            <a:ext cx="1024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AIを使うほど、意思決定の速度・再現性・安全性が高まる組織基盤</a:t>
            </a:r>
          </a:p>
        </p:txBody>
      </p:sp>
    </p:spTree>
    <p:extLst>
      <p:ext uri="{BB962C8B-B14F-4D97-AF65-F5344CB8AC3E}">
        <p14:creationId xmlns:p14="http://schemas.microsoft.com/office/powerpoint/2010/main" val="16208834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07FCDF-666E-45B1-A6ED-B58EFB4B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AED5D-FAD0-47CA-904A-48ECE1E2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B276E-FF9E-4DDF-BF3B-1F05A81E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「これって、なんでこうしたんだっけ？」をなくす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A2ADC-44F1-4FF3-A795-1649BBC6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0EE61-111A-4685-B622-2D37C9DB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7AD68-39A8-47E1-85B9-AD4CAE2A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739C6-B1DC-4578-8F20-81A06C60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現状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B3C71-4A94-4AFD-9E64-15D1BF1D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9326A-6BEF-4763-AE54-92C902C6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51159-2CDA-49D4-8FA2-9DD1F818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E0A0"/>
                </a:solidFill>
              </a:defRPr>
            </a:pPr>
            <a:r>
              <a:rPr sz="2025" b="1">
                <a:solidFill>
                  <a:srgbClr val="FFE0A0"/>
                </a:solidFill>
              </a:rPr>
              <a:t>理由が、会話・ログ・人に散在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D6F57-4257-4B69-8964-E0075E88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521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判断した瞬間に、理由ごと記憶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9A7E1-7002-47B7-BBAE-AF30469A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A82ED-7C3F-4C74-ABC4-476391AF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横断検索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A02DF-B487-4A04-9815-565F6DC4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Slack・Issue・議事録を探す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1CAFD-DABA-4230-BBDB-DF6B6A34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8DEF6-BE8A-43E2-9898-656644BA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背景を再推論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DC5E6F-9466-4BFF-9ED6-BC6C823E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90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断片から『なぜ』を推測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1E615-69B7-4426-9EEF-1F13951A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9B1F6E-7BAE-4624-90E5-14E9916D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957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人に確認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8A15E9-5AD5-4CEF-A6FD-E0FECCC3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担当者不在なら答えが消失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4F2E22-BF1A-4334-9BE8-2F36DB0B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E0A0"/>
                </a:solidFill>
              </a:defRPr>
            </a:pPr>
            <a:r>
              <a:rPr sz="1500" b="1">
                <a:solidFill>
                  <a:srgbClr val="FFE0A0"/>
                </a:solidFill>
              </a:rPr>
              <a:t>人もAIも、毎回ゼロから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CF257-085E-47A3-9E26-E817A46F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D6A90-2622-4414-B7B9-070ED30B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92D2DF-247E-4E49-9FC0-EBD49076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30E6E3-2920-4E95-86A9-3AA60097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1  記録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F37B61-22D0-4CB0-BF54-F9DEB38F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Slack・GitHub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807292-783A-493D-9828-2EA16B79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E4DAB-43E4-44F0-B8CD-3E99177B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2  構造化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47C04E-CE02-4732-98EC-2D455470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理由・制約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却下案・出典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0EFF46-AA50-4D8F-8C81-14627F7D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FDEC59-B7C1-43FF-9DD4-56BD6EA7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3  想起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8134CE-0B38-44AC-9DB4-C3CAF7D4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権限に合う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記憶を検索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D4B974-4463-422E-A91A-D2B65E75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86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次のAI実行で、根拠付き回答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1134A7-7FDA-4C15-97C1-8AFF6F91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BC57B9-2A32-422B-98D9-6FFC7433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AIへの質問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F5D5B0-09BE-4097-B25D-0681B796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なぜA社だけ例外仕様？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9D188F-1B12-412D-8DAB-7A5D9F6C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197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471BF5-6501-4DA1-87C1-B4E3CED7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81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根拠付きの出力例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6A9233-FE06-4125-9E75-81044187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292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SAML要件の期限が理由。全顧客同時リリースは納期超過で却下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39E7EF-BAD8-459D-8C21-01A0491F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531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</p:spTree>
    <p:extLst>
      <p:ext uri="{BB962C8B-B14F-4D97-AF65-F5344CB8AC3E}">
        <p14:creationId xmlns:p14="http://schemas.microsoft.com/office/powerpoint/2010/main" val="9417078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614ea15194d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C5769-EF7D-46D2-B989-5917B56E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F9A90-92F1-4F5B-A8A4-197B8E22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A75E9-BF01-4B14-9E49-E7B64308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B1C10-768E-422C-925A-36902A84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人が辞めるたび、組織は記憶をなくす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B21F5-3014-4932-A2ED-900A147A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B4C7"/>
                </a:solidFill>
              </a:defRPr>
            </a:pPr>
            <a:r>
              <a:rPr sz="1500" b="0">
                <a:solidFill>
                  <a:srgbClr val="A8B4C7"/>
                </a:solidFill>
              </a:rPr>
              <a:t>退職者とともに、判断理由・失敗・暗黙の制約まで組織から抜け落ちる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6BDDD-376F-48D5-869C-C9C6C264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29250"/>
            <a:ext cx="84963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8101A">
              <a:alpha val="92000"/>
            </a:srgbClr>
          </a:solidFill>
          <a:ln xmlns:a="http://schemas.openxmlformats.org/drawingml/2006/main" w="9525">
            <a:solidFill>
              <a:srgbClr val="6D54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91891-AE98-443B-ACFC-38868351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29275"/>
            <a:ext cx="788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E0A0"/>
                </a:solidFill>
              </a:defRPr>
            </a:pPr>
            <a:r>
              <a:rPr sz="1875" b="1">
                <a:solidFill>
                  <a:srgbClr val="FFE0A0"/>
                </a:solidFill>
              </a:rPr>
              <a:t>同じ失敗の再発は、組織が覚えていないことの帰結</a:t>
            </a:r>
          </a:p>
        </p:txBody>
      </p:sp>
    </p:spTree>
    <p:extLst>
      <p:ext uri="{BB962C8B-B14F-4D97-AF65-F5344CB8AC3E}">
        <p14:creationId xmlns:p14="http://schemas.microsoft.com/office/powerpoint/2010/main" val="4328152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84138E-F601-4183-AE24-D2118FDC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F2F24-4854-48A1-94D8-ECE9EBD5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F54F6-C7A8-4B02-A09E-4D291DED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人もAIも、同じ質問に毎回ゼロから回答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278DD-337E-4BEA-BDC4-1DFCA8F7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BE9FB-84EF-4BF5-A98A-7E71E4B4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B7FE8-1D1A-4F51-95AA-8093760B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F853D-C723-437C-ABAE-BC0ACEB1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WITHOUT ORGBRAIN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A25A4-5545-4B85-A891-02F7E3B7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66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WITH 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C30B3-BF89-4270-932B-CB4F24F0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0" cy="432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585EE-8B4B-4701-9AAF-79D4D27F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5438D-4B02-45B0-9AF9-E8513871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955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人がSlackを再検索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32A56-3723-4029-A6F1-223DFB42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717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741EF-8A9E-4514-A433-43EE6D09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EAE42-C8D4-4F36-8873-CB3AC187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861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AIもログと文書を再検索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84806-BA21-488E-849B-75685FC2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623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3C923-A610-4275-B7B6-F754DDF8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BA4C7-3950-400B-BE05-18C129B1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人もAIも背景を再推論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547CA-47E1-4C8E-97F7-F93AF74E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</a:defRPr>
            </a:pPr>
            <a:r>
              <a:rPr sz="2175" b="1">
                <a:solidFill>
                  <a:srgbClr val="F7FAFC"/>
                </a:solidFill>
              </a:rPr>
              <a:t>「なぜA社だけ例外仕様なの？」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592203-8597-4912-9B21-009DE1B3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4762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D75B9-ECBE-443D-8FB5-63EB67FF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4210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A社のSAML要件により先行対応。</a:t>
            </a:r>
          </a:p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代替案Bは、納期と権限設計の制約で却下されました。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8FAD04-1919-437F-8577-B7B3E767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FE3CC1-3683-4B55-8D5F-1B915C82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005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理由・制約・却下案・出典をセットで想起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E21DA2-15CA-42E7-95D9-F3275ECA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43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A87886-1BBD-45EB-A4A0-41EAF50A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000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16929370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9BA2E4-13EB-45DC-BBB6-D305C214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EF4A3-DA7B-4C80-82FF-7A44D084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2BA6D-9AD7-4033-B002-5733483B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普段の仕事が、そのまま組織の記憶に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EC646-533D-4D5E-8F62-CC97C50B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19867-667B-4B21-A08E-7BD596AD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ADC1E-422C-41FA-A685-C1015DC8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7D555-5FD8-437C-9E53-684A4CC0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追加入力なしで、既存の仕事の痕跡から必要な文脈を整理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8FE57-FFD0-4B98-96C9-77BA9D9B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01AF3-289B-448C-8795-7B808176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42B7C-B5E1-45D3-B5C1-476769F6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F9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FCD2B-B4F7-4B9F-89CD-DA99B61E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3019A-EF04-4634-92AC-074D2A64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C"/>
                </a:solidFill>
              </a:defRPr>
            </a:pPr>
            <a:r>
              <a:rPr sz="1950" b="1">
                <a:solidFill>
                  <a:srgbClr val="F7FAFC"/>
                </a:solidFill>
              </a:rPr>
              <a:t>仕事の痕跡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DF761-11CE-49B4-AC4F-DAB3E046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Slack  /  GitHub</a:t>
            </a:r>
          </a:p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Notion  /  AI実行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6C70D-2DF1-4775-80FC-39F30C57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797A5-7FF7-4928-A4C1-72D36922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876A0-3E31-44E5-8EA1-DB6B53DC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9E8FF"/>
                </a:solidFill>
              </a:defRPr>
            </a:pPr>
            <a:r>
              <a:rPr sz="1425" b="1">
                <a:solidFill>
                  <a:srgbClr val="89E8FF"/>
                </a:solidFill>
              </a:rPr>
              <a:t>組織記憶レイヤー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C708E-4F39-49C3-A4F3-6629332B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57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理由・関係・履歴を構造化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2F155-CF81-4AB9-A502-DEA92D54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A0602E-D18F-41F7-8783-A4A853DA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860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次のAI実行時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70E4A-5485-4D7C-A72F-B4A7FB4A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関連記憶を想起し</a:t>
            </a:r>
          </a:p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ゼロから始めない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144F24-FE81-4806-A9E6-8442A0D8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CAPTURE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1BC221-6DE7-448C-8F7C-A84C9E0D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記録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28B77B-251D-47E1-8EC2-F83DD549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B5A6F6-244B-4F20-A870-038CC523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DISTILL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4E5F95-41B1-48B4-89C2-D48FE857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選別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D20946-60BD-4F44-8100-6EBBE016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5CDCA2-E8D1-4555-944E-4B25C678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CONNECT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3BF0AE-E1E6-4344-841A-41D3AD1B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接続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19DE9B-4215-4CEC-BD93-506A4C1B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4D8008-2A51-4C5A-8086-46F3B65B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RECALL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50CCC9-D942-4A15-8E70-76F9333E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想起</a:t>
            </a:r>
          </a:p>
        </p:txBody>
      </p:sp>
    </p:spTree>
    <p:extLst>
      <p:ext uri="{BB962C8B-B14F-4D97-AF65-F5344CB8AC3E}">
        <p14:creationId xmlns:p14="http://schemas.microsoft.com/office/powerpoint/2010/main" val="2017394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0B951E-3AA6-4560-9ED5-6A305CAA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16FD4-8EFF-4250-BFE3-10656428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13DBB-8E49-4B4C-B280-9ACDD7C0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記憶を、種類・範囲・状態・根拠で構造化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72DC0-14B9-44D7-8EA0-AD9F5C26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3F90F-B74F-49E5-881F-89E4EE1B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3F5E5-67B5-4A0B-A86F-10DB342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D573B-2292-49BB-BED5-A25C4483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286000" cy="238125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54EA7-C69E-404A-9DB4-15B3A3BC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C3F30-792C-4EF2-8BE1-B1A7CE42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種類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07DC9-65F7-4C48-8E3B-DA24D255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decision / constraint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pitfall / preference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ほか4種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3BCBE-F1DA-47A7-9123-1B32FEF9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2286000" cy="22098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F1AE8-A37D-42B6-B6F1-78ACE065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1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A8713-654D-45DD-ABF0-9945AA00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範囲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B2A0B-1F04-4710-BB55-054DB4F5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99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project / org / tenant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の3スコープ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ACE28-F230-4E9D-A9F0-C17DAFF4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28600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ADE59-7A09-4832-8178-C33157F5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1AB347-A192-4C86-9505-7E6B4140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状態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091CE-5BDD-4395-8B99-12FFABA0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有効・抑制・統合・昇格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6B3A72-1E99-45BB-8A1C-A4E11482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2286000" cy="18669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79BFA-2449-4351-8296-18814292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0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2E3EFE-FC94-47EF-B68A-BBED8663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根拠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02E7C-5F0A-4D68-809F-13DD92F3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57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理由・却下案・制約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出典・版・有効期限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EA6376-E1A2-4B6C-9DFA-C631818E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245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質問と権限に応じて4軸を組み合わせ、根拠付きの記憶を次のAI実行へ</a:t>
            </a:r>
          </a:p>
        </p:txBody>
      </p:sp>
    </p:spTree>
    <p:extLst>
      <p:ext uri="{BB962C8B-B14F-4D97-AF65-F5344CB8AC3E}">
        <p14:creationId xmlns:p14="http://schemas.microsoft.com/office/powerpoint/2010/main" val="14780286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BB91AF-BDE6-414F-B49B-3B3C20B7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18007-3ED6-40B7-ADB8-F6151BEA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F1F45-B9B3-4513-B709-5E288956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結論だけでなく、理由・制約・出典まで記録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CDE79-E989-41AD-9FE4-CC25A1B4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35EE1-C2DE-4624-A99B-CB1D8F2B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114C1-7B52-4D05-805D-FEF2C56F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AC189-28AF-41DB-971F-99FE6A7D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DECISION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FFCB2-148A-4663-AA6E-3E80D1EA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A社だけSAML対応を先行する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E0828-CEC0-48AF-9EB6-A3A2D560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FA9DF-F59D-4D72-8507-A310E95D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DD698-00E8-4A2A-B6E8-A45633CB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003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契約更新までにSSOが必須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B68F3-7DAD-4D91-8B4A-7AD619A8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制約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B86F4-4E8C-4B9B-AB77-C004264F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29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既存権限モデルを変更しない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23754-173C-4478-99AC-B0C958B1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却下案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5F31F-926F-4498-91DE-29C47792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576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全顧客向け同時リリースは納期超過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DE4AC-A146-4D57-9C4E-3933E8BC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D3FF"/>
                </a:solidFill>
              </a:defRPr>
            </a:pPr>
            <a:r>
              <a:rPr sz="1350" b="1">
                <a:solidFill>
                  <a:srgbClr val="43D3FF"/>
                </a:solidFill>
              </a:rPr>
              <a:t>出典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9D3E4B-2B02-4545-B6CC-CA9F36A8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86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Slack / GitHub Issue / 仕様書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6F5D7-87A4-4FE8-BD98-E9085304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3143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0E2434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C20A3-D619-423C-A189-4474F0A1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次のAI実行で</a:t>
            </a:r>
          </a:p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できること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5195C-6692-497F-9AC8-E69BEA67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627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CD086-3AE4-4D5A-BE97-DF3CCDCF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説明責任のある回答</a:t>
            </a:r>
          </a:p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例外条件の再利用</a:t>
            </a:r>
          </a:p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同じ失敗の事前警告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EE08F-815D-498D-B584-83874FFB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007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4735169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BCB8D2-7300-4821-A184-8AF0349E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27370-9D12-4334-B757-9A10FF01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692F2-C8F5-4413-A01E-E4FEF7D9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同一ハーネスで、検索品質と安全性を確認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71D4A-2A2C-4FD5-89DE-BE54F19A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71904-86C2-44DB-AE14-900CC3F8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E6394-2B63-4119-AB76-9EC31D6B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5C678-C611-4B6D-98B9-CDC82811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OrgBrainが上回った指標のみ掲載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B285D-0F85-45F8-81AF-5266BB82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34FB9-2F39-407B-AFBB-B8E7545E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指標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F694B-F9B0-4146-9833-27D04623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57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OrgBrain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6913A-C278-42B2-8753-E417DC60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573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比較対象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46214-BBC2-48C5-93B9-2B6E824A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意味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527E0-D991-4DB2-AA0E-2962B146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69F89-8279-43B0-AAFB-A6AF99BF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検索精度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2193C-3EC4-4885-8829-EEDB5AE9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098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8D025-FE8D-455F-8CB1-F11FE2DE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80% / Mnemosyne 56% / Hindsight 50%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4EBE5-FEEB-4C67-BFC6-FE0C238A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矛盾・古さ・権限・判断文脈を含む200問で正答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96E3E2-7C23-4867-A9EA-C7E6AC1C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1859F-1B21-474E-8287-876FDEFB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Pass^5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C3E798-36DA-448F-8386-446B7E4B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861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CF4E01-15FA-4082-BA2C-DB28D643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861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70% / Mnemosyne 51%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6C5802-ACC5-4449-B3D3-CC63CC8A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670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同じ検索を5回繰り返しても安定して正答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D1D0F-8BF1-47B1-A806-7AD96214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01B5CA-B4A2-4E35-80C1-31849170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79BD7-CFCF-417F-822E-EEA8CB24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情報漏えい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A3F094-E448-4459-88EA-7E7DC487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624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1929D7-6BE5-434F-9F89-6D0B4FD9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624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3競合はいずれも20%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EBFEF0-65DD-4E8A-A23F-D13D1CD3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433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テナント・権限境界を越えた検索結果なし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65BB7A-C064-4945-8B84-11C82C95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001246-2260-4A59-98AB-E482B327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検索p95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15CAF7-9586-4C2D-82A0-456A2FAF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13.39ms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29BB49-E25A-4ED7-BC62-9E931618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387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51.07ms / Hindsight 660.25ms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437997-DBC2-41CD-9B06-13721F19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AI実行前の想起を低遅延で追加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6B9FC4-2429-48CC-8E56-10D9F6A8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FC50BD-349F-4A05-A286-588ED812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A97158-72E7-4566-B741-42EF3E62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FC3F3C-0C6E-4FA6-BA5D-04ED5725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90448F-69C5-4E00-9438-D718A815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F95"/>
                </a:solidFill>
              </a:defRPr>
            </a:pPr>
            <a:r>
              <a:rPr sz="975" b="0">
                <a:solidFill>
                  <a:srgbClr val="6F7F95"/>
                </a:solidFill>
              </a:rPr>
              <a:t>条件：retrieval-only / 200タスク / Apple M2 / 2026-07-31　※OSS全体での普遍的首位を主張する結果ではありません</a:t>
            </a:r>
          </a:p>
        </p:txBody>
      </p:sp>
    </p:spTree>
    <p:extLst>
      <p:ext uri="{BB962C8B-B14F-4D97-AF65-F5344CB8AC3E}">
        <p14:creationId xmlns:p14="http://schemas.microsoft.com/office/powerpoint/2010/main" val="20194781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C94681-DD8D-4230-97DD-D0988659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E237F-3709-4B6C-A45D-24AC1B57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0E10D-8579-4A65-BC56-1A23176F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代表4職種で、AIと人の“やり直し”を削減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9A178-9389-4DD9-BA37-88AB9495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6E4AE-2484-4692-8DC2-CBD364A4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6A432-7A5F-4393-847A-21EEBE67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B643C-A57F-434D-9803-9A63F740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日常業務での利用ストーリー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9A724-A628-4C56-82BE-AECEDEDD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ソフトウェア開発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95EF0-32B3-4A87-AF10-2F9A0EB3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4.5h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BF28B-4F0B-4DB0-82AA-E0346CF7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92D14-6F5E-4694-9A0E-B8AF47F3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遭遇済みエラーと失敗を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実行前に想起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調査・修正ループを避け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トークンと手戻りを削減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FDFBD-E48B-487C-A484-E184509F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A4FE1-3A6F-41B6-9A10-B140DC50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PdM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AEEC2-2574-41E9-91B0-E9C43033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6.0h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E96C3-FA5C-4669-AED9-F8442348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12110-4842-4F1A-8896-B5614CC4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判断理由・却下案・顧客制約を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仕様検討時に想起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過去の議論と合意形成の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やり直しを削減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C4079-D257-4708-A842-7B51D873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0392A4-9690-47ED-8DFE-1AC76664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営業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ED9E8-4946-481C-A451-19310229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3.0h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FDB836-3E2A-4370-B95B-A4ECCF96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A8385C-6E40-44C4-B6CB-2C4C6826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顧客ごとの合意・例外・過去提案を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商談前に想起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合意違反と社内確認の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往復を防止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31EBB-8C56-48BA-A524-B4AA6438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439245-468F-4171-80AE-E7AC7031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バックオフィス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903741-9F32-4223-AC56-B893D919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4.0h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8DD6AE-8A6C-4B74-9A44-ADB69D73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E33860-A161-4BA1-9720-B7A9B954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例外承認の理由と基準を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担当者間で共有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判断のばらつきと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引き継ぎ負荷を削減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2C772C-552D-43F2-B1F1-B9F3B226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1E405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CC49AA-61A5-4513-8991-91CB8902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62625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AIが既知の失敗を回避するほど、完了タスク当たりの再検索・再推論・トークン消費を削減</a:t>
            </a:r>
          </a:p>
        </p:txBody>
      </p:sp>
    </p:spTree>
    <p:extLst>
      <p:ext uri="{BB962C8B-B14F-4D97-AF65-F5344CB8AC3E}">
        <p14:creationId xmlns:p14="http://schemas.microsoft.com/office/powerpoint/2010/main" val="11516368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25EEC-83F1-4C2C-A4E7-11CECD55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7F8D7-5583-42B3-AF0A-16677FE8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EB39C-2CD0-4000-BADD-3B1CA02B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100人組織で、年間約3,000万円の改善余地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8FC3B-9AED-4DDE-BF97-B501BE9D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25D2D-1C87-4225-81A0-539E4E8E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2F71E-C90B-4E8A-9B62-BA5CBE83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76AD9-1325-4EDF-949F-1BD2A09F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43D3FF"/>
                </a:solidFill>
              </a:defRPr>
            </a:pPr>
            <a:r>
              <a:rPr sz="3900" b="1">
                <a:solidFill>
                  <a:srgbClr val="43D3FF"/>
                </a:solidFill>
              </a:rPr>
              <a:t>年間 3,000万円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1F0B3-1D14-4666-BC7F-CFFAAD54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954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6,000時間相当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CC44E-E7C8-4A9F-9B44-CC01CDAF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探し直し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D792D-170E-4560-9DC8-B28890BD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1,200万円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EC8CD-89E4-4094-99AB-118202BF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Slack・GitHub・Notionの横断検索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当時の担当者への確認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52292-B7EB-4A47-887E-647BD42D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6分/日 × 20日 × 12か月 × 100人 × 5,000円/h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B820A-C8C6-45F5-BBA9-67FC74AA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44686-4F75-4F79-9240-7B2A6E8A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記録・引き継ぎ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4A551-6B4B-4767-BCE5-A71920D1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09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1,500万円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179E7-F502-4D5F-89A2-61F65BD3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会議・AI出力の再整理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理由・制約・変更履歴の手作業による文書化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1E433-F257-48BE-862F-C47A758D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0.5h × 月5回 × 12か月 × 100人 × 5,000円/h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B3328-4B2A-4891-9265-39272598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007DA-C768-49B5-A90A-1317C8B8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既知障害・AI失敗の再発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E6EBB2-D4D4-4408-BCC4-B853E360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339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300万円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4575EF-67A3-401D-8F50-511E6DF4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958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遭遇済みエラーをAIが再実装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原因調査・ロールバック・再レビュー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9F217-FAB4-4029-B8B5-C269769F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101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12件/年 × 50万円/件 × 50%回避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BE6C64-5306-422E-B0B2-A92475D7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前提：平均人件費5,000円/h。失敗1件50万円は、開発・QA・緊急対応を含む試算例</a:t>
            </a:r>
          </a:p>
        </p:txBody>
      </p:sp>
    </p:spTree>
    <p:extLst>
      <p:ext uri="{BB962C8B-B14F-4D97-AF65-F5344CB8AC3E}">
        <p14:creationId xmlns:p14="http://schemas.microsoft.com/office/powerpoint/2010/main" val="16319648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21C471-6E8F-4AE2-B109-0A613337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7F2B0-CD5C-40C0-A057-673055A3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EFA45-BA7A-4D9B-8BF6-240D06C1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効果を測る4つの実装ログ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601B2-408C-4328-8B38-B3D13D1B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2EDDD-5EE3-4E64-9D64-B7146F3B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A8019-A643-4F97-970F-D40B174E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03F62-D05A-43AE-8010-6D2F1CAE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CC96E-F446-4170-840D-069CD78D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検索ログ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77B9E-C6B2-4968-862D-7D629A66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retrieval_events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AF2C5-601C-4829-AE36-F659ACCC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ヒット率・fallback率・p95遅延・検索回数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32645-1C02-4306-8D34-3956AF76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B2E2B-1FF2-422C-864B-064F9637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探し直しと検索性能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07F88-F047-4DD9-BDA3-980029C6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36FA4-8B96-4171-B7B6-C6908E7B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メモリー影響ログ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8ECBB-AA28-4721-B01E-3DD7504C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memory_impact_events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83640-30DA-463E-AF8A-EC218E29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memory_used・avoided_lookup・参照Memory 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41D5E-BE00-41DD-A807-CCC88E6E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A3ACA-A1D3-4DC3-9195-2C5273B8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再検索回避と記憶の寄与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CA6275-9E74-417E-9D86-20A3C51B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AC9ED-86F0-45D1-9E1A-36B6A776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比較計測ログ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BC1683-8D18-4D18-8211-598FE1CF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measurement_variants / comparisons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428C98-4302-4FB7-9B78-78D84BA9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control対treatmentのtoken・cost・duration・quality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25BB6C-B12A-4500-9CF6-DF5D0AEA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FC6FC7-5D89-4492-9BCD-A28A8AEB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トークン節約と完了効率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C4018B-5FB5-4DE7-A916-CBE5E6F6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045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79A272-5480-4711-A856-88CD5867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タスク・監査ログ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C41733-9104-4E8A-91AD-FC6C5E66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tasks / audit_events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159AA2-DB09-4454-B2CF-05364E24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完了時間・失敗・denied・権限外アクセス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0B866E-ADA3-4C74-8798-9AD87A63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10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ECFA9A-DBB9-40B9-A1A9-2860A446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86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業務成果と安全性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B28EE4-BBB4-48FB-823C-09833E53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21923"/>
          </a:solidFill>
          <a:ln xmlns:a="http://schemas.openxmlformats.org/drawingml/2006/main" w="9525">
            <a:solidFill>
              <a:srgbClr val="3A45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4710DF-BA00-4F68-AFD9-C70F8474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PoCでは導入前ベースラインと8週間後を比較し、検索時間・トークン・完了時間・権限違反を判定</a:t>
            </a:r>
          </a:p>
        </p:txBody>
      </p:sp>
    </p:spTree>
    <p:extLst>
      <p:ext uri="{BB962C8B-B14F-4D97-AF65-F5344CB8AC3E}">
        <p14:creationId xmlns:p14="http://schemas.microsoft.com/office/powerpoint/2010/main" val="8681137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E713DD-95A6-4C6E-80DD-44F36E6B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B3359-5651-4FEB-B1AC-B3023137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3B3CA-FBCA-4246-B798-C34C460B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課金単位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503FB-3AAE-4CAE-ABD0-D4E9C7EE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B980C-D8CF-464D-B41D-D6A564CF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76DB2-2159-4055-AC4C-0CBD2B33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CDF34-660D-41EA-82F4-87A6F0A4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10439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42198-B447-438A-BA50-E12652DD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比較項目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A4864-31A3-4B42-BCB1-6C002C57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907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一般的なSaaS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E5613-3BF8-4D1B-9DC3-758C97D9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9E8FF"/>
                </a:solidFill>
              </a:defRPr>
            </a:pPr>
            <a:r>
              <a:rPr sz="1425" b="1">
                <a:solidFill>
                  <a:srgbClr val="89E8FF"/>
                </a:solidFill>
              </a:rPr>
              <a:t>OrgBrain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A1776B-EE12-49AB-830A-A44E4EDD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043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71F99-79D4-4C38-8420-0518A51B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課金単位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DF24C-4CA4-40EE-8A69-8113326D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ユーザー数 × 単価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73FA6-AB93-44DF-9D12-60E1744D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組織基本料 ＋ 利用範囲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27246-5C38-4597-8B9E-9C137DA7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6611F-5D3C-48AB-90EB-6A936F66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利用者の追加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DF1C92-BC46-4F50-88C0-71C82678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99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人数に比例して増額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C7998-34B9-4035-BF55-8BA1E599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全社員・全AIを基本料金に包含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81449-0E31-45B8-A8EC-C55DE989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2560CD-9421-4E7D-820E-334DA1E4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3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1FD022-5685-4549-9FFC-23BE4F22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利用拡大時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9FD5DD-2C77-4BF0-9AE1-ECFE84CE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62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利用を広げるほどコスト増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2F3113-06F9-4C09-9654-29C6770E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24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記憶の接続と1人当たり価値が拡大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518214-693F-4FD6-BF7B-A5EC2D16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1AF541-7A5C-400F-A5FF-3683CC43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958234-D8E6-4149-AF72-4AB91D80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80B97E-C278-433D-8F22-2CA99C27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14950"/>
            <a:ext cx="94488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344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C8A4D0-5BED-4BF7-AB90-6B7E455F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全社で使うほど、組織メモリーの価値が増える料金設計</a:t>
            </a:r>
          </a:p>
        </p:txBody>
      </p:sp>
    </p:spTree>
    <p:extLst>
      <p:ext uri="{BB962C8B-B14F-4D97-AF65-F5344CB8AC3E}">
        <p14:creationId xmlns:p14="http://schemas.microsoft.com/office/powerpoint/2010/main" val="11648171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DAABA4-C220-41DA-86EB-1ABC59BE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569A0-A5B2-470D-8ABB-B031050E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374E7-FF62-4FE3-9E24-6B8E61CB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4つのプランと基本料金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8ECC6-4A01-422B-9E00-0D7CD054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F4415-A56C-41F5-9BE4-8637F8D9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6C50D-86BE-418A-A609-4022407D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20C6E-FC78-4BDF-BCE6-C74E4AD1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Organization単位の基本料金に、全社員・全AIの利用を包含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79399-CA65-4813-B592-513578F9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F7F95"/>
                </a:solidFill>
              </a:defRPr>
            </a:pPr>
            <a:r>
              <a:rPr sz="1875" b="1">
                <a:solidFill>
                  <a:srgbClr val="6F7F95"/>
                </a:solidFill>
              </a:rPr>
              <a:t>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78937-BABA-4E16-B1D0-AC4893D5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3〜5万円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87BE5-136A-450F-A560-8DD186EF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84085-298E-400D-9D8E-23F5796A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小規模チーム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46BEB-C7D8-411C-95D6-E84A586C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共有メモリーを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小さく始める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21E3C-D373-4673-AB01-EDFC7753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8E09B-6C86-4A47-9BAC-5163725A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3D3FF"/>
                </a:solidFill>
              </a:defRPr>
            </a:pPr>
            <a:r>
              <a:rPr sz="1875" b="1">
                <a:solidFill>
                  <a:srgbClr val="43D3FF"/>
                </a:solidFill>
              </a:rPr>
              <a:t>COMPANY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83804-9019-49A4-AA20-79DA2773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9E8FF"/>
                </a:solidFill>
              </a:defRPr>
            </a:pPr>
            <a:r>
              <a:rPr sz="2700" b="1">
                <a:solidFill>
                  <a:srgbClr val="89E8FF"/>
                </a:solidFill>
              </a:rPr>
              <a:t>10〜20万円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539DB-4BE9-42CF-ADB6-2E057381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81A9C-A041-4BDA-AC91-1847A76E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複数部門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D66D5-18BB-4FA3-86F2-B120D348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AdapterとDomainを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段階的に拡張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D328B4-0A28-435B-850E-55EC136E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00200"/>
            <a:ext cx="2628900" cy="3524250"/>
          </a:xfrm>
          <a:prstGeom xmlns:a="http://schemas.openxmlformats.org/drawingml/2006/main" prst="roundRect">
            <a:avLst>
              <a:gd name="adj" fmla="val 579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F8D970-7F44-4364-9615-C1D77D48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FEF00E-EC28-4C86-8228-12C87519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7F95"/>
                </a:solidFill>
              </a:defRPr>
            </a:pPr>
            <a:r>
              <a:rPr sz="1650" b="1">
                <a:solidFill>
                  <a:srgbClr val="6F7F95"/>
                </a:solidFill>
              </a:rPr>
              <a:t>ENTERPRISE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E903CE-5630-48AF-A936-73FA0DD8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30〜50万円〜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0540DF-6F7D-4157-88A3-A3426116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2559D-D1BE-43A2-821D-8B9FD98C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全社利用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7F82E1-57A2-4FC6-B768-B63C89B9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高度な権限・監査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SLAに対応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D3538C-C582-4000-AF52-6A50B608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0B3E31-0B84-4005-B8B3-DA0A0A48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F7F95"/>
                </a:solidFill>
              </a:defRPr>
            </a:pPr>
            <a:r>
              <a:rPr sz="1500" b="1">
                <a:solidFill>
                  <a:srgbClr val="6F7F95"/>
                </a:solidFill>
              </a:rPr>
              <a:t>ENTERPRISE PLUS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33FFEF-4387-479D-AFB2-9E865D02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100万円〜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4BB8FD-B2E3-4F4A-AAEA-33B7FF15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051549-F5F2-49F4-BC96-FA8B5A61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グループ・専用環境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9C3C9F-0744-4DA4-8E99-158EF163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個別要件と専用運用を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包括提供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7E6C91-E5DB-4F46-AC63-94BB9BC4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価格は利用範囲・セキュリティ要件・運用形態に応じたイメージです。</a:t>
            </a:r>
          </a:p>
        </p:txBody>
      </p:sp>
    </p:spTree>
    <p:extLst>
      <p:ext uri="{BB962C8B-B14F-4D97-AF65-F5344CB8AC3E}">
        <p14:creationId xmlns:p14="http://schemas.microsoft.com/office/powerpoint/2010/main" val="17193369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00565A-5A85-41DB-A5D9-A4BD37F0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E8D4C-A6C6-46CD-9EEC-65297DFF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5BBD1-1B4A-49B6-9E48-4C8762FE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追加の従量課金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8291E-A283-4DFF-BA5D-BDC1BF31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13E41-5CE8-4EA7-9955-28ED70F6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986CB-F382-45AC-8F51-5673C0FE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49F4A-2A7E-4F22-9B24-0F260599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105918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B3817-99CC-4905-A5D2-4A8C894C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Organization基本料金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FFC1C-80EA-4F1D-B4A3-EAD4FD7B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002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全社員・全AI / コア機能 / 基本メモリー容量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916E6-5887-40FB-AC9C-8F86D17F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課金項目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6B30F-ADC3-4F9D-A075-28DC75D5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課金単位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4EBE8-2067-45EB-B440-25389E5F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価格案（税別）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2665C-CC71-48A1-BEB4-21843A39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098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46A33-F42D-40C7-BB25-BE8B08AB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A6899-D3DB-40C4-AECE-AFA0077A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1接続 / 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85F8B-2E37-4C39-AF05-0A6D8FA9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33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1万円〜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F0EDB-37D1-4509-9671-A32C27B8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Slack・Notion・GitHub・Salesforce・Teams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C79D9D-FFD7-470F-86DA-95E9B451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930EC-E488-4A88-B1B9-2A54F8A7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MEMORY DOMAIN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230C93-2505-4BEE-99D9-F5A80F45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1領域 / 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62D87F-D933-4290-83BD-FE030FF1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81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2万円〜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EC3C0F-F18E-4BAC-ABFE-DA980291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00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Engineering・Sales・Management Brain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53BAA6-596E-4E74-971B-43A57532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20914D-E766-4885-B14D-287E3C51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 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FDA570-3AD0-455D-8AE7-BB3632DB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1,000処理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665A68-7C1B-4A8D-BBB9-41253EA5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29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5,000円〜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782D62-2422-44B4-8CCF-580AB76E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矛盾検知・資料修正・統合・分析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37CA60-389A-4920-8204-D2E8DC86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8C8433-C43E-4C83-BA82-907A5735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GOVERNANCE / SECURITY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DD27A6-7EDE-4B5E-A6F1-38B20A89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1組織 / 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8618C5-3E38-493A-BE43-46B24089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76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10万円〜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DC27D4-7B0A-4CC0-BDFF-5F50A9AD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高度な権限・監査・SLA／専用環境は個別見積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3EB537-FB26-4451-AA97-219EB605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EADA1B-2F27-4323-8AE6-CF634618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MEMORY OVERAGE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944A67-4BEB-43F4-97EC-0D951602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1GB / 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C26786-0DB6-49F0-9E2C-FA154EB8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24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5,000円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0EF290-60A2-4D27-A3C9-A07FE94A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143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基本容量の超過分のみ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BDDA8B-14BF-48A9-BFDA-D9954DE9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※価格案。契約条件・処理負荷・専用環境の要件により変動</a:t>
            </a:r>
          </a:p>
        </p:txBody>
      </p:sp>
    </p:spTree>
    <p:extLst>
      <p:ext uri="{BB962C8B-B14F-4D97-AF65-F5344CB8AC3E}">
        <p14:creationId xmlns:p14="http://schemas.microsoft.com/office/powerpoint/2010/main" val="8185838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ABE41F-8937-4B6D-9526-734EA1C9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D732F-DBC1-4A2A-B411-466F97A3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ADD10-FFFD-4A79-A807-2D06681D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ライセンス形態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C2C20-6689-45E3-A1C7-C8F8DFDC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E54F2-7295-4A91-B033-E389554D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E7379-18C4-4356-9F4F-DB80A8F7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225BF-5AAB-48FD-B5E6-70A58488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6330E-F421-413C-841F-EB4BC011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0D0C7-D590-4FA3-8265-8C005F62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Free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126FB-24CA-4C40-9B90-414F4814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SQLite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FD250-4305-4375-A4FA-D9D06119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個人・プロジェクトで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まず試す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21B3B-B7B4-4EA4-8158-E6FC7C4B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C706F-1BA8-44AC-996D-2881D1FB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SELF-HOSTED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4C773-3436-40DF-922C-EE1EF1FE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Infrastructure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21FB1-64B5-47D5-99F8-69E9F5F4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Cloudflare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C486D-3683-412B-94BF-9CB3760F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自社運用で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データを保持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C592A-4741-49A3-8E9D-752ED668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9E5E0-1933-4E94-9082-FB76B782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MANAGED SaaS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0284C-A6F1-470D-96A9-5BEBADA7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</a:defRPr>
            </a:pPr>
            <a:r>
              <a:rPr sz="2100" b="1">
                <a:solidFill>
                  <a:srgbClr val="F7FAFC"/>
                </a:solidFill>
              </a:rPr>
              <a:t>Team → Enterprise Plus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2A487-401A-4745-A16C-CE44BA35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Managed OrgBrain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CD68E4-A5CC-49FE-B47E-AD645972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インフラ保守なしで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全社展開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9AE175-A073-47F5-822D-C8C363A2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Local-firstから、共有・統制・運用支援まで段階的に拡張</a:t>
            </a:r>
          </a:p>
        </p:txBody>
      </p:sp>
    </p:spTree>
    <p:extLst>
      <p:ext uri="{BB962C8B-B14F-4D97-AF65-F5344CB8AC3E}">
        <p14:creationId xmlns:p14="http://schemas.microsoft.com/office/powerpoint/2010/main" val="2579572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81F772-7529-4F14-863A-1E35C29D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C8F0D-01AD-425C-B8A6-721EC4F9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68BEA-F0D1-4858-86E8-07E2CEDB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PoCのご提案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FC7BC-2280-4414-B73F-CF5FF2A8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99DB7-42E5-4393-A4AB-CFDC5902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B8DB3-8305-4542-B07D-ED75FB7A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E9904-5D45-434C-8240-D837542B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1チーム・8週間で、継続判断に必要なROIとリスクを可視化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74630-0FFF-4D81-A63E-AF1C0096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2895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1C4D7-6A33-4394-B0D8-67FD879E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6962C-B716-49C7-83A1-22B0CDE3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0-2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F78F0-DDE1-4D69-A026-EA20DDA0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ベースライン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E0A27-8C62-4540-9F78-59CAA586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検索時間・手戻り・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AIコストを計測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C0673-58BE-403E-9188-2C4E4CE2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00FA4-1462-41E4-AC3F-B1EE51EF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3-6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D8BC7-92E6-47C2-B706-578D8BE6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運用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3636B-5DC5-47EF-A95C-2AA986B3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1〜2 Adapterを接続し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実業務で利用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8703F8-E05D-4846-AF84-0A8F7AE6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32D2BE-1DF6-4D18-B24D-25873154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WEEK 7-8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D9A5F-A39F-4F38-B231-763D33C0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評価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EC431A-BC2E-402D-B14D-09129048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KPI・ROI・安全性を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共同レビュー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3AA537-56A6-40AA-A7BD-03998EC9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76850"/>
            <a:ext cx="8953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961BD7-7F7D-4116-862D-96F0069D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57825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SlackまたはGitHubを接続し、“探し直し”の削減量を実測</a:t>
            </a:r>
          </a:p>
        </p:txBody>
      </p:sp>
    </p:spTree>
    <p:extLst>
      <p:ext uri="{BB962C8B-B14F-4D97-AF65-F5344CB8AC3E}">
        <p14:creationId xmlns:p14="http://schemas.microsoft.com/office/powerpoint/2010/main" val="9679213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3A7FC-7F21-40AE-812C-265646DD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F5908-01A5-4C30-B6FA-094327E6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10F53-2037-4F43-9375-8B957D99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お問い合わせ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DD3A7-F752-431E-B427-9FA64D0C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3F66C-E62F-4F61-8648-69857BE5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CCE38-4B8B-471D-8E04-28207AAE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C5A26-E7C1-4172-9829-79F7FA5A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9E8FF"/>
                </a:solidFill>
              </a:defRPr>
            </a:pPr>
            <a:r>
              <a:rPr sz="2250" b="1">
                <a:solidFill>
                  <a:srgbClr val="89E8FF"/>
                </a:solidFill>
              </a:rPr>
              <a:t>AI利用を、組織知に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C3127-4E26-4825-961A-D60459D1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1268C-EAC2-4E72-8B25-31D38D4E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AFC"/>
                </a:solidFill>
              </a:defRPr>
            </a:pPr>
            <a:r>
              <a:rPr sz="36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EAE8F-B22F-4CB9-B443-69F210B4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導入相談　/　PoC設計　/　Enterprise見積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D37E2-A584-4E52-8441-92FB15F3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00500"/>
            <a:ext cx="67437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8491E-DF82-4A47-9A7E-E1EA2CA6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00525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github.com/miyajima/org-brain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606CB-8E7C-4C7D-BDD1-C9F86FFB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9E8FF"/>
                </a:solidFill>
              </a:defRPr>
            </a:pPr>
            <a:r>
              <a:rPr sz="1950" b="1">
                <a:solidFill>
                  <a:srgbClr val="89E8FF"/>
                </a:solidFill>
              </a:rPr>
              <a:t>AIが動くたび、組織が学ぶ</a:t>
            </a:r>
          </a:p>
        </p:txBody>
      </p:sp>
    </p:spTree>
    <p:extLst>
      <p:ext uri="{BB962C8B-B14F-4D97-AF65-F5344CB8AC3E}">
        <p14:creationId xmlns:p14="http://schemas.microsoft.com/office/powerpoint/2010/main" val="77024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2026-08-07T10:12:53.9150000Z</dcterms:created>
  <dcterms:modified xsi:type="dcterms:W3CDTF">2026-08-07T10:12:53.9150000Z</dcterms:modified>
</coreProperties>
</file>