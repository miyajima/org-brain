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8380eda74e4b01" /><Relationship Type="http://schemas.openxmlformats.org/officeDocument/2006/relationships/extended-properties" Target="/docProps/app.xml" Id="R4d53b38aebcb4055" /><Relationship Type="http://schemas.openxmlformats.org/officeDocument/2006/relationships/officeDocument" Target="/ppt/presentation.xml" Id="R6ea1d6853cbd42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2d4aa3f48f4e50"/>
  </p:sldMasterIdLst>
  <p:notesMasterIdLst>
    <p:notesMasterId xmlns:r="http://schemas.openxmlformats.org/officeDocument/2006/relationships" r:id="R5cc227f318544f4f"/>
  </p:notesMasterIdLst>
  <p:sldIdLst>
    <p:sldId xmlns:r="http://schemas.openxmlformats.org/officeDocument/2006/relationships" id="256" r:id="R34362e5d83f94119"/>
    <p:sldId xmlns:r="http://schemas.openxmlformats.org/officeDocument/2006/relationships" id="257" r:id="R8a46fa5dbf294d63"/>
    <p:sldId xmlns:r="http://schemas.openxmlformats.org/officeDocument/2006/relationships" id="258" r:id="R4dff8956918e42d5"/>
    <p:sldId xmlns:r="http://schemas.openxmlformats.org/officeDocument/2006/relationships" id="259" r:id="Rc51198ec375e4c01"/>
    <p:sldId xmlns:r="http://schemas.openxmlformats.org/officeDocument/2006/relationships" id="260" r:id="R56cdcd7f5f7b4a91"/>
    <p:sldId xmlns:r="http://schemas.openxmlformats.org/officeDocument/2006/relationships" id="261" r:id="Ra0c2e644c779464f"/>
    <p:sldId xmlns:r="http://schemas.openxmlformats.org/officeDocument/2006/relationships" id="262" r:id="Rba5c9083670f440d"/>
    <p:sldId xmlns:r="http://schemas.openxmlformats.org/officeDocument/2006/relationships" id="263" r:id="R373bb55dc70b4807"/>
    <p:sldId xmlns:r="http://schemas.openxmlformats.org/officeDocument/2006/relationships" id="264" r:id="R2aaade9abbd64a0c"/>
    <p:sldId xmlns:r="http://schemas.openxmlformats.org/officeDocument/2006/relationships" id="265" r:id="Ra9c0bb36fa2947ec"/>
    <p:sldId xmlns:r="http://schemas.openxmlformats.org/officeDocument/2006/relationships" id="266" r:id="Re19db5b88bcd4ea1"/>
    <p:sldId xmlns:r="http://schemas.openxmlformats.org/officeDocument/2006/relationships" id="267" r:id="R7597c9d74d964a18"/>
    <p:sldId xmlns:r="http://schemas.openxmlformats.org/officeDocument/2006/relationships" id="268" r:id="R3b7155e9ea254ab6"/>
    <p:sldId xmlns:r="http://schemas.openxmlformats.org/officeDocument/2006/relationships" id="269" r:id="Rb9c027f4cd33426b"/>
    <p:sldId xmlns:r="http://schemas.openxmlformats.org/officeDocument/2006/relationships" id="270" r:id="R521ff18bd1664bdf"/>
    <p:sldId xmlns:r="http://schemas.openxmlformats.org/officeDocument/2006/relationships" id="271" r:id="R3248e7348f4a4db5"/>
    <p:sldId xmlns:r="http://schemas.openxmlformats.org/officeDocument/2006/relationships" id="272" r:id="R6e3ce9f8bed844b3"/>
    <p:sldId xmlns:r="http://schemas.openxmlformats.org/officeDocument/2006/relationships" id="273" r:id="R3411f5b8d3e14f56"/>
    <p:sldId xmlns:r="http://schemas.openxmlformats.org/officeDocument/2006/relationships" id="274" r:id="Rb765b3a963a040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0e63c80b144995" /><Relationship Type="http://schemas.openxmlformats.org/officeDocument/2006/relationships/slideMaster" Target="/ppt/slideMasters/slideMaster1.xml" Id="R242d4aa3f48f4e50" /><Relationship Type="http://schemas.openxmlformats.org/officeDocument/2006/relationships/notesMaster" Target="/ppt/notesMasters/notesMaster1.xml" Id="R5cc227f318544f4f" /><Relationship Type="http://schemas.openxmlformats.org/officeDocument/2006/relationships/presProps" Target="/ppt/presProps.xml" Id="Rbe4ae9e27ca84a1d" /><Relationship Type="http://schemas.openxmlformats.org/officeDocument/2006/relationships/tableStyles" Target="/ppt/tableStyles.xml" Id="Rdc54e455340e4f1b" /><Relationship Type="http://schemas.openxmlformats.org/officeDocument/2006/relationships/slide" Target="/ppt/slides/slide1.xml" Id="R34362e5d83f94119" /><Relationship Type="http://schemas.openxmlformats.org/officeDocument/2006/relationships/slide" Target="/ppt/slides/slide2.xml" Id="R8a46fa5dbf294d63" /><Relationship Type="http://schemas.openxmlformats.org/officeDocument/2006/relationships/slide" Target="/ppt/slides/slide3.xml" Id="R4dff8956918e42d5" /><Relationship Type="http://schemas.openxmlformats.org/officeDocument/2006/relationships/slide" Target="/ppt/slides/slide4.xml" Id="Rc51198ec375e4c01" /><Relationship Type="http://schemas.openxmlformats.org/officeDocument/2006/relationships/slide" Target="/ppt/slides/slide5.xml" Id="R56cdcd7f5f7b4a91" /><Relationship Type="http://schemas.openxmlformats.org/officeDocument/2006/relationships/slide" Target="/ppt/slides/slide6.xml" Id="Ra0c2e644c779464f" /><Relationship Type="http://schemas.openxmlformats.org/officeDocument/2006/relationships/slide" Target="/ppt/slides/slide7.xml" Id="Rba5c9083670f440d" /><Relationship Type="http://schemas.openxmlformats.org/officeDocument/2006/relationships/slide" Target="/ppt/slides/slide8.xml" Id="R373bb55dc70b4807" /><Relationship Type="http://schemas.openxmlformats.org/officeDocument/2006/relationships/slide" Target="/ppt/slides/slide9.xml" Id="R2aaade9abbd64a0c" /><Relationship Type="http://schemas.openxmlformats.org/officeDocument/2006/relationships/slide" Target="/ppt/slides/slide10.xml" Id="Ra9c0bb36fa2947ec" /><Relationship Type="http://schemas.openxmlformats.org/officeDocument/2006/relationships/slide" Target="/ppt/slides/slide11.xml" Id="Re19db5b88bcd4ea1" /><Relationship Type="http://schemas.openxmlformats.org/officeDocument/2006/relationships/slide" Target="/ppt/slides/slide12.xml" Id="R7597c9d74d964a18" /><Relationship Type="http://schemas.openxmlformats.org/officeDocument/2006/relationships/slide" Target="/ppt/slides/slide13.xml" Id="R3b7155e9ea254ab6" /><Relationship Type="http://schemas.openxmlformats.org/officeDocument/2006/relationships/slide" Target="/ppt/slides/slide14.xml" Id="Rb9c027f4cd33426b" /><Relationship Type="http://schemas.openxmlformats.org/officeDocument/2006/relationships/slide" Target="/ppt/slides/slide15.xml" Id="R521ff18bd1664bdf" /><Relationship Type="http://schemas.openxmlformats.org/officeDocument/2006/relationships/slide" Target="/ppt/slides/slide16.xml" Id="R3248e7348f4a4db5" /><Relationship Type="http://schemas.openxmlformats.org/officeDocument/2006/relationships/slide" Target="/ppt/slides/slide17.xml" Id="R6e3ce9f8bed844b3" /><Relationship Type="http://schemas.openxmlformats.org/officeDocument/2006/relationships/slide" Target="/ppt/slides/slide18.xml" Id="R3411f5b8d3e14f56" /><Relationship Type="http://schemas.openxmlformats.org/officeDocument/2006/relationships/slide" Target="/ppt/slides/slide19.xml" Id="Rb765b3a963a040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b878262eb746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1fd84918394ce1" /><Relationship Type="http://schemas.openxmlformats.org/officeDocument/2006/relationships/notesMaster" Target="/ppt/notesMasters/notesMaster1.xml" Id="R85f7223c91424f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9d907713de47cf" /><Relationship Type="http://schemas.openxmlformats.org/officeDocument/2006/relationships/notesMaster" Target="/ppt/notesMasters/notesMaster1.xml" Id="Ra1d19b4d6a064b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1cc2e83b484629" /><Relationship Type="http://schemas.openxmlformats.org/officeDocument/2006/relationships/notesMaster" Target="/ppt/notesMasters/notesMaster1.xml" Id="Rb46d9e32102f4d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395ba078064445" /><Relationship Type="http://schemas.openxmlformats.org/officeDocument/2006/relationships/notesMaster" Target="/ppt/notesMasters/notesMaster1.xml" Id="R997fb01967ad49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82f2c43a8543bf" /><Relationship Type="http://schemas.openxmlformats.org/officeDocument/2006/relationships/notesMaster" Target="/ppt/notesMasters/notesMaster1.xml" Id="R150568b0323e45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787b4bcd264568" /><Relationship Type="http://schemas.openxmlformats.org/officeDocument/2006/relationships/notesMaster" Target="/ppt/notesMasters/notesMaster1.xml" Id="R4e3efc32fc6543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b180c4cf174855" /><Relationship Type="http://schemas.openxmlformats.org/officeDocument/2006/relationships/notesMaster" Target="/ppt/notesMasters/notesMaster1.xml" Id="R5deec45dcdec45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7aa953801c4312" /><Relationship Type="http://schemas.openxmlformats.org/officeDocument/2006/relationships/notesMaster" Target="/ppt/notesMasters/notesMaster1.xml" Id="R5cd286ae16fc45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d191a73f6142b8" /><Relationship Type="http://schemas.openxmlformats.org/officeDocument/2006/relationships/notesMaster" Target="/ppt/notesMasters/notesMaster1.xml" Id="R7aa002bfec6048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b6671d34e64ff1" /><Relationship Type="http://schemas.openxmlformats.org/officeDocument/2006/relationships/notesMaster" Target="/ppt/notesMasters/notesMaster1.xml" Id="Ra652579442b244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acc5ada3e04eb1" /><Relationship Type="http://schemas.openxmlformats.org/officeDocument/2006/relationships/notesMaster" Target="/ppt/notesMasters/notesMaster1.xml" Id="Rc8c9fe8d55a242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dcd3fdd5764fa1" /><Relationship Type="http://schemas.openxmlformats.org/officeDocument/2006/relationships/notesMaster" Target="/ppt/notesMasters/notesMaster1.xml" Id="Rb9c5edec8f7c4b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ed126af7f04f3e" /><Relationship Type="http://schemas.openxmlformats.org/officeDocument/2006/relationships/notesMaster" Target="/ppt/notesMasters/notesMaster1.xml" Id="R72ec4a03dbca41b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1bf061ea18467e" /><Relationship Type="http://schemas.openxmlformats.org/officeDocument/2006/relationships/notesMaster" Target="/ppt/notesMasters/notesMaster1.xml" Id="R93afbe87c5fa4b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5b1d71616e4cde" /><Relationship Type="http://schemas.openxmlformats.org/officeDocument/2006/relationships/notesMaster" Target="/ppt/notesMasters/notesMaster1.xml" Id="Re6b16130559942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440f34cdfa4b10" /><Relationship Type="http://schemas.openxmlformats.org/officeDocument/2006/relationships/notesMaster" Target="/ppt/notesMasters/notesMaster1.xml" Id="Rabd20ff3419c47d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a796362e41c4180" /><Relationship Type="http://schemas.openxmlformats.org/officeDocument/2006/relationships/notesMaster" Target="/ppt/notesMasters/notesMaster1.xml" Id="R058a478c611640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0ca8a6312a54e1b" /><Relationship Type="http://schemas.openxmlformats.org/officeDocument/2006/relationships/notesMaster" Target="/ppt/notesMasters/notesMaster1.xml" Id="R8374647a5a894c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f6887d31244349" /><Relationship Type="http://schemas.openxmlformats.org/officeDocument/2006/relationships/notesMaster" Target="/ppt/notesMasters/notesMaster1.xml" Id="R3db94b100c7041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accessed 2026-08-07.</a:t>
            </a:r>
          </a:p>
          <a:p xmlns:a="http://schemas.openxmlformats.org/drawingml/2006/main">
            <a:r>
              <a:t>- Generated visual: OpenAI Image Generation, organizational-memory-hero.png,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 of the product positioning, value model, pricing concept, and PoC proposal in this deck.</a:t>
            </a:r>
          </a:p>
          <a:p xmlns:a="http://schemas.openxmlformats.org/drawingml/2006/main">
            <a:r>
              <a:t>- Financial impact is an illustrative opportunity model,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sections The Problem and What OrgBrain Does, accessed 2026-08-07.</a:t>
            </a:r>
          </a:p>
          <a:p xmlns:a="http://schemas.openxmlformats.org/drawingml/2006/main">
            <a:r>
              <a:t>- packages/shared/src/memory-lifecycle-types.ts and apps/api-gateway/src/context-engine-service.ts.</a:t>
            </a:r>
          </a:p>
          <a:p xmlns:a="http://schemas.openxmlformats.org/drawingml/2006/main">
            <a:r>
              <a:t>- The AI answer is an illustrative output example,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3.</a:t>
            </a:r>
          </a:p>
          <a:p xmlns:a="http://schemas.openxmlformats.org/drawingml/2006/main">
            <a:r>
              <a:t>- Generated visual: OpenAI Image Generation, organizational-memory-loss-v2.png,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scenario based on the user-provided product concept;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Shared memory loop: Capture, Distill, Connect, Recall, accessed 2026-08-07.</a:t>
            </a:r>
          </a:p>
          <a:p xmlns:a="http://schemas.openxmlformats.org/drawingml/2006/main">
            <a:r>
              <a:t>- apps/api-gateway/src/memory-extraction-service.ts: duplicate, update, and conflict candidate detection.</a:t>
            </a:r>
          </a:p>
          <a:p xmlns:a="http://schemas.openxmlformats.org/drawingml/2006/main">
            <a:r>
              <a:t>- apps/api-gateway/src/knowledge-docs-service.ts: related/reference and parent/child knowledge links.</a:t>
            </a:r>
          </a:p>
          <a:p xmlns:a="http://schemas.openxmlformats.org/drawingml/2006/main">
            <a:r>
              <a:t>- apps/api-gateway/src/memory-lifecycle-service.ts and packages/orgbrain-cli/src/lib/local-memory-store.mjs: derived_from memory edges and graph-assisted recall.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packages/shared/src/memory-lifecycle-types.ts: MEMORY_KINDS, MEMORY_LIFECYCLE_STATES, MEMORY_SCOPES.</a:t>
            </a:r>
          </a:p>
          <a:p xmlns:a="http://schemas.openxmlformats.org/drawingml/2006/main">
            <a:r>
              <a:t>- apps/api-gateway/src/context-engine-service.ts: decision memory rationale, alternatives, constraints, source refs, versions, validity.</a:t>
            </a:r>
          </a:p>
          <a:p xmlns:a="http://schemas.openxmlformats.org/drawingml/2006/main">
            <a:r>
              <a:t>- The former four drawers came from the user-provided OrgBrain_AI_Memory.pdf and were not a formal implementation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decision-memory example derived from the user-provided product positioning;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artifacts/benchmarks/2026-07-31/competitive-memory-reduced3-orgbrain-v4-fixed-repeat5.json.</a:t>
            </a:r>
          </a:p>
          <a:p xmlns:a="http://schemas.openxmlformats.org/drawingml/2006/main">
            <a:r>
              <a:t>- artifacts/benchmarks/2026-07-31/competitive-memory-reduced3-local-repeat5.json.</a:t>
            </a:r>
          </a:p>
          <a:p xmlns:a="http://schemas.openxmlformats.org/drawingml/2006/main">
            <a:r>
              <a:t>- artifacts/benchmarks/2026-07-31/competitive-memory-reduced3-hindsight-repeat1.json.</a:t>
            </a:r>
          </a:p>
          <a:p xmlns:a="http://schemas.openxmlformats.org/drawingml/2006/main">
            <a:r>
              <a:t>- Hindsight Pass^5 is omitted because its available result is repeat1. Mnemosyne latency is omitted because it was faster than OrgBrain.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8. Figures are presented as illustrative estimates, not reported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this as an opportunity model, not a guaranteed result. Confirm the customer's volumes and adoption assumptions before using it as an ROI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slides 6-7.</a:t>
            </a:r>
          </a:p>
          <a:p xmlns:a="http://schemas.openxmlformats.org/drawingml/2006/main">
            <a:r>
              <a:t>- Updated illustrative recurrence scenario: 12 repeated incidents per year × JPY500,000 impact per incident × 50% avoided = JPY3,000,000.</a:t>
            </a:r>
          </a:p>
          <a:p xmlns:a="http://schemas.openxmlformats.org/drawingml/2006/main">
            <a:r>
              <a:t>- The incident impact represents developer investigation, rollback, QA, review, and urgent response; it is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apps/cap-runner/src/retrieval-metrics.ts and migrations/0004_retrieval_metrics.sql.</a:t>
            </a:r>
          </a:p>
          <a:p xmlns:a="http://schemas.openxmlformats.org/drawingml/2006/main">
            <a:r>
              <a:t>- apps/api-gateway/src/memory-impact-service.ts and migrations/0018_memory_impact.sql.</a:t>
            </a:r>
          </a:p>
          <a:p xmlns:a="http://schemas.openxmlformats.org/drawingml/2006/main">
            <a:r>
              <a:t>- apps/cap-runner/src/index.ts: measurement_variants and measurement_comparisons writes.</a:t>
            </a:r>
          </a:p>
          <a:p xmlns:a="http://schemas.openxmlformats.org/drawingml/2006/main">
            <a:r>
              <a:t>- apps/api-gateway/src/operations-service.ts and migrations/0015_rbac_audit.sql.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pricing philosophy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User-approved per-active-group pricing model in the Codex task, 2026-08-07. Plan positioning is an illustrative packaging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User-approved plan differentiation proposal in the Codex task, 2026-08-07. Feature availability includes proposed roadmap items and must be confirmed before contracting.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billing components in the Codex task, 2026-08-07.</a:t>
            </a:r>
          </a:p>
          <a:p xmlns:a="http://schemas.openxmlformats.org/drawingml/2006/main">
            <a:r>
              <a:t>- Unit prices are an illustrative packaging proposal added for this revision; they are not approved or published prices.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Choose Your Mode section, accessed 2026-08-07.</a:t>
            </a:r>
          </a:p>
          <a:p xmlns:a="http://schemas.openxmlformats.org/drawingml/2006/main">
            <a:r>
              <a:t>- User-provided managed plan concept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PoC approach proposed for this deck; schedule and targets should be tailored to the customer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repository: https://github.com/miyajima/org-brain, accessed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77ca67664a4a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0f755d93204a3b" /><Relationship Type="http://schemas.openxmlformats.org/officeDocument/2006/relationships/slideLayout" Target="/ppt/slideLayouts/slideLayout1.xml" Id="Rdc65c51ea5cf46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65c51ea5cf46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e65b7111346ac" /><Relationship Type="http://schemas.openxmlformats.org/officeDocument/2006/relationships/image" Target="/ppt/media/image.png" Id="R208f3b5deded4bc7" /><Relationship Type="http://schemas.openxmlformats.org/officeDocument/2006/relationships/notesSlide" Target="/ppt/notesSlides/notesSlide1.xml" Id="R314c4275078e45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1a49e5e7e416d" /><Relationship Type="http://schemas.openxmlformats.org/officeDocument/2006/relationships/notesSlide" Target="/ppt/notesSlides/notesSlide2.xml" Id="Rb0b1a316d54c4a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8e67adfcd45b7" /><Relationship Type="http://schemas.openxmlformats.org/officeDocument/2006/relationships/notesSlide" Target="/ppt/notesSlides/notesSlide3.xml" Id="R9e42191ef8af4a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e42f254584a93" /><Relationship Type="http://schemas.openxmlformats.org/officeDocument/2006/relationships/image" Target="/ppt/media/image2.png" Id="Rea339578604c4d1b" /><Relationship Type="http://schemas.openxmlformats.org/officeDocument/2006/relationships/notesSlide" Target="/ppt/notesSlides/notesSlide4.xml" Id="Rb8e9db47f95c4c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814cd4d9e48a9" /><Relationship Type="http://schemas.openxmlformats.org/officeDocument/2006/relationships/notesSlide" Target="/ppt/notesSlides/notesSlide5.xml" Id="Rf126a470340c49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c146d7a594831" /><Relationship Type="http://schemas.openxmlformats.org/officeDocument/2006/relationships/notesSlide" Target="/ppt/notesSlides/notesSlide6.xml" Id="R11000c00cd3f4d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fa0ff12a443cd" /><Relationship Type="http://schemas.openxmlformats.org/officeDocument/2006/relationships/notesSlide" Target="/ppt/notesSlides/notesSlide7.xml" Id="Raca764af92d745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bf8adf1f94dff" /><Relationship Type="http://schemas.openxmlformats.org/officeDocument/2006/relationships/notesSlide" Target="/ppt/notesSlides/notesSlide8.xml" Id="Reac3cac3da2045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4ea6624874080" /><Relationship Type="http://schemas.openxmlformats.org/officeDocument/2006/relationships/notesSlide" Target="/ppt/notesSlides/notesSlide9.xml" Id="Rac1e0ede058941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54e0b527f48d8" /><Relationship Type="http://schemas.openxmlformats.org/officeDocument/2006/relationships/notesSlide" Target="/ppt/notesSlides/notesSlide10.xml" Id="R2f436cceb64849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554f104e74eb8" /><Relationship Type="http://schemas.openxmlformats.org/officeDocument/2006/relationships/notesSlide" Target="/ppt/notesSlides/notesSlide11.xml" Id="R90ce0f35624f42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d599f6b814693" /><Relationship Type="http://schemas.openxmlformats.org/officeDocument/2006/relationships/notesSlide" Target="/ppt/notesSlides/notesSlide12.xml" Id="R04034739dbb14b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923e1825140cb" /><Relationship Type="http://schemas.openxmlformats.org/officeDocument/2006/relationships/notesSlide" Target="/ppt/notesSlides/notesSlide13.xml" Id="R431dee3efbb14f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1996ec2f9451f" /><Relationship Type="http://schemas.openxmlformats.org/officeDocument/2006/relationships/notesSlide" Target="/ppt/notesSlides/notesSlide14.xml" Id="Re2a7d42135b64cb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d732a598a490c" /><Relationship Type="http://schemas.openxmlformats.org/officeDocument/2006/relationships/notesSlide" Target="/ppt/notesSlides/notesSlide15.xml" Id="R99cb5afed36e43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27e4cb9954a3c" /><Relationship Type="http://schemas.openxmlformats.org/officeDocument/2006/relationships/notesSlide" Target="/ppt/notesSlides/notesSlide16.xml" Id="Rd92300686382426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5ac29b58d4a1e" /><Relationship Type="http://schemas.openxmlformats.org/officeDocument/2006/relationships/notesSlide" Target="/ppt/notesSlides/notesSlide17.xml" Id="R6819a1aad1974c5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8e9dd24374b52" /><Relationship Type="http://schemas.openxmlformats.org/officeDocument/2006/relationships/notesSlide" Target="/ppt/notesSlides/notesSlide18.xml" Id="R13a3ffd2b6b441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f13c2bdd44fe7" /><Relationship Type="http://schemas.openxmlformats.org/officeDocument/2006/relationships/notesSlide" Target="/ppt/notesSlides/notesSlide19.xml" Id="R554228a0d4654f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8f3b5deded4bc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BB9FE-FED1-4ECF-BFB4-3BC028CB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4C4CF-73B1-4E2A-9CF6-1D79B090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3D3FF"/>
                </a:solidFill>
              </a:defRPr>
            </a:pPr>
            <a:r>
              <a:rPr sz="105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779CB-EF44-4C5D-8408-ED723DBB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38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AIが動くたび、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B578F-9C17-4D27-A182-59EB3EEE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判断の背景を、次のAI実行が使える組織知へ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理由・制約・結果を残し、同じ失敗を繰り返さない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96B9D-36F2-4DCA-B81B-00CF265C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D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91EF7-DC49-496F-8C0F-408080C2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2DC73-1476-43E2-8C6E-6A5F6462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OrgBrain</a:t>
            </a:r>
          </a:p>
        </p:txBody>
      </p:sp>
    </p:spTree>
    <p:extLst>
      <p:ext uri="{BB962C8B-B14F-4D97-AF65-F5344CB8AC3E}">
        <p14:creationId xmlns:p14="http://schemas.microsoft.com/office/powerpoint/2010/main" val="13451198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C6090-74C2-404B-ABAD-AFBCDCA1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6A03D-55F1-4C1F-BF2C-CFFDBFFF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A27E9-2224-4443-B6EE-4115D5BD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エグゼクティブサマリー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B65D1-67E3-43A6-AAEE-78132C3B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B57E9-F8B3-4322-B2DA-20194F09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EA6B5-9193-48DA-8594-526994A1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07F06-ADA6-4652-A505-C5A282B1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89E8FF"/>
                </a:solidFill>
              </a:defRPr>
            </a:pPr>
            <a:r>
              <a:rPr sz="2325" b="1">
                <a:solidFill>
                  <a:srgbClr val="89E8FF"/>
                </a:solidFill>
              </a:rPr>
              <a:t>「これって、なんでこうしたんだっけ？」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43A3F-F0C6-4329-BB05-302F0CB4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会議が止まり、Slackや資料を探し、最後は「あの人に聞こう」となる。この日常会話は、判断理由や失敗の教訓が、組織ではなく担当者の記憶に残っているサインです。AIを導入しても過去の背景を知らなければ、人と同じように毎回ゼロから調べ、同じ議論や失敗を繰り返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BB86E-1F5A-40F6-ACB6-ABC668B8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OrgBrainは、日々のAI実行から理由・制約・却下案・結果を自動で組織メモリー化し、次のAI実行に必要な文脈を想起させます。追加の記録作業を増やすことなく、AIを使うたびに個々の実行が組織全体の学びへ変わり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CBF39-127D-44D8-A1D6-F0F2050E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4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153AF-0AEC-441C-ABAD-21EC9299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1024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100人組織では、探し直しや記録・引き継ぎなど、年間約3,000万円・6,000時間の改善余地が見込めます。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866F5-E45C-4EE2-93E6-1A8979CB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まずは1チーム・8週間のPoCで「なんでこうしたんだっけ？」に費やす時間と手戻りを実測し、全社導入をご検討ください。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EABE0-652A-4D74-A360-8936ACEC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※効果は本資料の前提に基づく試算。実際の効果は利用状況により変動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243577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69193B-BA21-4159-A49A-2F7CF208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B743A-84AB-4A04-AD8A-9751E923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F1A23-A5D9-4C19-893D-20E72E56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「これって、なんでこうしたんだっけ？」をなくす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7B63F-A0CF-4A32-8FD0-B63D1248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BC162-CBFE-4842-8CF9-063131A3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C6AEE-89EE-4734-8F0F-677DD3B9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D0B0A-9F48-4F98-8422-FDBFCDBD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現状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106B6-EE3D-4636-B41A-5D91547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244E7-2CDD-49C1-BF39-599BEEA9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DCC17-13DC-4253-86C9-178E7125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E0A0"/>
                </a:solidFill>
              </a:defRPr>
            </a:pPr>
            <a:r>
              <a:rPr sz="2025" b="1">
                <a:solidFill>
                  <a:srgbClr val="FFE0A0"/>
                </a:solidFill>
              </a:rPr>
              <a:t>理由が、会話・ログ・人に散在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53BBD-5B70-4EE3-8B73-1B65B282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判断した瞬間に、理由ごと記憶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233AA-5634-452B-B923-4C6E57A0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56AE8-E712-48C5-9FC1-43AE86E4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横断検索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A898A-A2AF-479D-9543-7E0A2449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Slack・Issue・議事録を探す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9F756-B9AE-43C1-BFF4-399441B5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1A2AB-E0A0-42D2-898F-FEC0B328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背景を再推論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FAA4BC-CFBB-43ED-AFC7-680EBBF4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90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断片から『なぜ』を推測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4983C-32E3-4A44-B860-B5B83F3F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145ADD-B2C8-4305-8B33-073E3172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957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人に確認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F2BA0-C91A-44C2-B308-D803745B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担当者不在なら答えが消失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8ED0D6-5A2C-48E1-91F2-AEEC27F3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E0A0"/>
                </a:solidFill>
              </a:defRPr>
            </a:pPr>
            <a:r>
              <a:rPr sz="1500" b="1">
                <a:solidFill>
                  <a:srgbClr val="FFE0A0"/>
                </a:solidFill>
              </a:rPr>
              <a:t>人もAIも、毎回ゼロから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CBEDE-2F8F-4703-8BB9-5642A23C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B8FAC1-7FC7-47AB-80ED-04056775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4BFB1-D4B5-44F9-9CC3-357E2A17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427AF2-B651-4D4F-84EA-40377A24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1  記録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C6ACE7-841B-4A1B-B898-2C3E21A1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Slack・GitHub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0DB837-CBFA-4995-9A38-DB3B5CC8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5D8D28-3E22-4137-972C-0270EE14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2  構造化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8BB84B-8FF5-4C49-A09F-84D8B891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理由・制約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却下案・出典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DE6445-7AFD-4F6E-9B12-7A38CC63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F0D336-9DDA-4263-9B20-C235DF16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3  想起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2BB41-C3D0-4283-9EC1-B6B8F818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権限に合う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記憶を検索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500F94-6292-4A80-B03E-0E17456C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次のAI実行で、根拠付き回答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477A6D-11FA-45AD-909F-4A0BAFA4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6F05EB-22F0-4A1E-A926-CEE3BDAE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AIへの質問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0FADB9-0E9D-4083-BBFE-CEF1ABE4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なぜA社だけ例外仕様？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2A007F-88F9-404F-A47D-434DAC72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BBBF26-C6C4-4344-89CF-E8CEC679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81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根拠付きの出力例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7C3A70-F9D7-4F0B-A591-5D8D6F57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292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SAML要件の期限が理由。全顧客同時リリースは納期超過で却下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B0A6BE-4E8A-4094-A3BC-5E1D21BD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531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</p:spTree>
    <p:extLst>
      <p:ext uri="{BB962C8B-B14F-4D97-AF65-F5344CB8AC3E}">
        <p14:creationId xmlns:p14="http://schemas.microsoft.com/office/powerpoint/2010/main" val="2136922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39578604c4d1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6344C-C42A-4E33-B5E1-4D999BFF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D65A9-D716-463D-8CA1-08F94AB0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E5850-A282-49BA-AE07-106ABE59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D20E5-2007-4C5A-A6AD-3C1A81B0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人が辞めるたび、組織は記憶をなくす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F8F6C-2656-44D9-B75C-18A3339B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A8B4C7"/>
                </a:solidFill>
              </a:defRPr>
            </a:pPr>
            <a:r>
              <a:rPr sz="1500" b="0">
                <a:solidFill>
                  <a:srgbClr val="A8B4C7"/>
                </a:solidFill>
              </a:rPr>
              <a:t>退職者とともに、判断理由・失敗・暗黙の制約まで組織から抜け落ちる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7D517-72FA-4D56-9369-D7C6440C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29250"/>
            <a:ext cx="84963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8101A">
              <a:alpha val="92000"/>
            </a:srgbClr>
          </a:solidFill>
          <a:ln xmlns:a="http://schemas.openxmlformats.org/drawingml/2006/main" w="9525">
            <a:solidFill>
              <a:srgbClr val="6D54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68C1C-530B-44E0-88E3-A00ACF9A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29275"/>
            <a:ext cx="788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E0A0"/>
                </a:solidFill>
              </a:defRPr>
            </a:pPr>
            <a:r>
              <a:rPr sz="1875" b="1">
                <a:solidFill>
                  <a:srgbClr val="FFE0A0"/>
                </a:solidFill>
              </a:rPr>
              <a:t>同じ失敗の再発は、組織が覚えていないことの帰結</a:t>
            </a:r>
          </a:p>
        </p:txBody>
      </p:sp>
    </p:spTree>
    <p:extLst>
      <p:ext uri="{BB962C8B-B14F-4D97-AF65-F5344CB8AC3E}">
        <p14:creationId xmlns:p14="http://schemas.microsoft.com/office/powerpoint/2010/main" val="3186009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D2E016-0BF1-4043-A588-831F5EA0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2D53F-416C-47AB-88F7-69044B72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93B25-5B1E-4B38-94D7-DDA3FE89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人もAIも、同じ質問に毎回ゼロから回答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38F8D-D229-4C83-8D7C-2D3551F7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7DC3D-D191-4690-B5C9-0C1C750F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8F3F6-E82E-444B-B08C-1638DFD9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CC11E-F7FE-45B9-BAF3-977E15EE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WITHOUT ORGBRAIN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B7EAE-129F-417B-94D7-D41D7A4E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WITH 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27541-96F8-4226-A901-FA39927E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0" cy="432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7E72B-1048-41F8-B5DB-C599B45B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921F2-1427-4DBF-9F14-CA279C43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人がSlackを再検索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AA715-41D2-4488-95EC-509339A3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71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0C5D4-108A-4894-BB60-5AF2365A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60F85-A913-439E-BF96-997C8EC0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AIもログと文書を再検索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27192-147E-4560-8FCE-15CCE744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623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2A668-02A6-4759-B8BE-8751ADF9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635668-CB64-43BE-9DAD-7B45BA34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人もAIも背景を再推論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4BA02-9F3C-4758-B80D-424DDBC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7FAFC"/>
                </a:solidFill>
              </a:defRPr>
            </a:pPr>
            <a:r>
              <a:rPr sz="2175" b="1">
                <a:solidFill>
                  <a:srgbClr val="F7FAFC"/>
                </a:solidFill>
              </a:rPr>
              <a:t>「なぜA社だけ例外仕様なの？」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10616-37B9-4259-89BD-E8212C50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4762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58159-9344-4FAE-81CF-46190925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4210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A社のSAML要件により先行対応。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代替案Bは、納期と権限設計の制約で却下されました。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F6FD4-D1ED-476D-B2DC-8700EBFE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A2AC5-62EB-4B77-9642-34383A0E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理由・制約・却下案・出典をセットで想起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E7342-58F3-419D-8504-0434DFEC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43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650A31-23ED-4674-8862-794BC134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00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776292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E58131-A6CC-4529-A470-4722966E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FDBAD-7B5C-45E9-985C-ECE2B599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185D4-E84D-4F35-BAC7-446B2BF2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AIを使うたび、仕事の痕跡が自動で組織の記憶に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8C5D3-A9C4-4C3A-8EA7-94C5D383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819EB-2953-413B-8EAC-4175953E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99F2F-278F-4109-BBA3-B1BBBED3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1B79A-81AC-4F78-BB07-5643AFE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追加入力なしで、Slack・GitHub・NotionとAI実行から理由・制約・結果を蓄積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60D0B-0689-4F0C-9638-39F1C76A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28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自動取得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A7411-0B39-40F9-9AB4-BEA17B75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43D3FF"/>
                </a:solidFill>
              </a:defRPr>
            </a:pPr>
            <a:r>
              <a:rPr sz="4350" b="1">
                <a:solidFill>
                  <a:srgbClr val="43D3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D0A2E-2ED9-42B8-83D9-86875147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28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文脈を注入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EA089-3FCD-4BD1-AC19-8EAF6B51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43D3FF"/>
                </a:solidFill>
              </a:defRPr>
            </a:pPr>
            <a:r>
              <a:rPr sz="4350" b="1">
                <a:solidFill>
                  <a:srgbClr val="43D3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3DA92-D338-4DFE-8EFD-6036A904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F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EA526-DFBD-4D55-B3A1-F50B1BED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026EE-D1E4-4B7B-8BF1-27D971E7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AIエージェントの実行結果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F9744-10EA-45CB-AA0C-14F1ABAC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Codex / Claude Code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Cursor / ほか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9891E-8F14-4C9A-8661-0998B376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6AE66-DAF0-424C-9160-F1878FD8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6567C-1DE0-4A52-A202-614094A8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自動で記憶化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35F42F-CCE0-4FA6-A1A6-B2043281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57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理由・関係・履歴を構造化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A813B-DAD4-4D69-AE9B-738193C7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392D21-8C09-4295-9249-5BD6CC42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860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次のAI実行時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349F1-8CEE-4088-B532-9CADCE12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関連記憶を想起し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ゼロから始めない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5CC5B-D950-48DD-8623-33F12E5A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CAPTURE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5368CB-793D-49AB-9CA3-51DC734C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自動記録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5AAE44-BC0B-485C-A5E3-0BD072C2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3A8847-D6B7-4224-A068-415D3D57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DISTILL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BDEEEC-3E30-4F7A-A3CE-21F3D432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自動選別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4D55FA-C782-4483-B457-35ADB344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9A0DD4-7283-46C1-9188-806ACCB4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CONNECT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9B9870-6BB7-480D-9E5D-E676C049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関連付け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DAF006-CFA6-4C53-BF1F-CE116A77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148A86-5C5A-43FC-BA40-8FA1EE7D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RECALL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B51F22-11C9-403D-A127-3EF3CFB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自動想起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0733F0-4CC0-4AC4-8BA5-386CC90D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重複・更新・矛盾候補を判定し、関連文書や派生元をひも付け</a:t>
            </a:r>
          </a:p>
        </p:txBody>
      </p:sp>
    </p:spTree>
    <p:extLst>
      <p:ext uri="{BB962C8B-B14F-4D97-AF65-F5344CB8AC3E}">
        <p14:creationId xmlns:p14="http://schemas.microsoft.com/office/powerpoint/2010/main" val="16447896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38DE87-CE25-419A-8B18-38E87E05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A9E83-0732-4549-B71F-9654458B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73B3A-0324-4BA6-8E41-8ED53C5D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記憶を、種類・範囲・状態・根拠で構造化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EA578-6436-4EBF-8C16-36B402FD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15D0F-1A24-4A0B-99F6-742893D8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E272D-0843-492F-BD43-6546682F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E191F-141E-4731-A357-5872840F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286000" cy="238125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ED242-EA04-499C-AE8C-548AA6D2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F8DC5-0227-4F82-97C9-D3828DA0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種類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349D3-831D-4280-A244-109E663B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decision / constraint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pitfall / preference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ほか4種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61830-BB3A-45CA-BC15-43A6B9C8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286000" cy="22098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79B7D-F866-4281-9EFC-D1792314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1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A9DDC-A054-4887-AE6C-EE656371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範囲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5CEB1-CB00-405D-907C-F7B83D94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99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project / org / tenant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の3スコープ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93D31-039A-431C-80BA-15F29560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28600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E796F-ED7F-46F5-AC20-34C827F6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1E340-36BE-4D81-B2C8-5753FFD6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状態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26373-8E0F-49CC-9691-8E0076B6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有効・抑制・統合・昇格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1405A9-D8D2-4CD8-886D-80A16BFD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2286000" cy="18669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0067D7-E11C-4963-805A-BEB7789C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2639F6-0499-4147-BFDC-4946F599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根拠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39EBC7-DF4E-45BD-8FB9-5CD4F9C9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理由・却下案・制約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出典・版・有効期限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0996D-D2E7-44B7-B3DC-DD930136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245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質問と権限に応じて4軸を組み合わせ、根拠付きの記憶を次のAI実行へ</a:t>
            </a:r>
          </a:p>
        </p:txBody>
      </p:sp>
    </p:spTree>
    <p:extLst>
      <p:ext uri="{BB962C8B-B14F-4D97-AF65-F5344CB8AC3E}">
        <p14:creationId xmlns:p14="http://schemas.microsoft.com/office/powerpoint/2010/main" val="2683283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CFE45-1DC3-43DD-9849-3CA2025D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67569-E458-411D-97C1-3E055B35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2D850-A40B-48B1-8647-3204EC62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結論だけでなく、理由・制約・出典まで記録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086EA-28B8-4D10-BD80-409B318B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70781-E352-42CA-AA96-A3C92130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64EF7-664D-4934-91AA-C420BB5C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402B4-0889-4FC0-B5B8-0B0AD3E1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DECISION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102A2-C0A7-482A-81D5-F800B45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A社だけSAML対応を先行する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B6E29-576A-424F-B721-73795782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4FA71-C829-49E3-B8EE-CE3946A1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EDB29-57A0-4DE2-B480-FA16D2EF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契約更新までにSSOが必須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1C036-DB29-4E98-BAAE-8258E161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制約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6E156-C7FF-4C41-8A1D-48CE4894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29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既存権限モデルを変更しない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A4A24-5F8A-4CCB-89F0-531DA61C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却下案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334E6-670C-4827-BC05-A6F26DE4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576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全顧客向け同時リリースは納期超過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0C33F-87AB-4499-B824-22009C86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3D3FF"/>
                </a:solidFill>
              </a:defRPr>
            </a:pPr>
            <a:r>
              <a:rPr sz="1350" b="1">
                <a:solidFill>
                  <a:srgbClr val="43D3FF"/>
                </a:solidFill>
              </a:rPr>
              <a:t>出典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38552-DDAE-4ED2-91E6-8138AE25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Slack / GitHub Issue / 仕様書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56D60-BD9B-41D5-AC70-6065945D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3143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0E2434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3A3B7-1435-4706-B5D3-B2F92056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次のAI実行で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できること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E8F9D-5B64-4192-AF13-73E44B7E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627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12F72-4D3E-433C-BE17-C3478F17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説明責任のある回答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例外条件の再利用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同じ失敗の事前警告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DAFD82-769B-4D15-8CDC-B680DA51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007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2486509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E5F3CD-F8E1-427E-A550-B81D3FF0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A7C5D-024C-498F-B0DB-29D1163B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B47F7-E75C-4A5C-B300-A059A784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同一ハーネスで、検索品質と安全性を確認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709C0-7B97-4DA4-AEB5-344A355D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FB0B1-AE64-49D5-B9EF-6C3B69C9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46573-A3DA-4443-9E9A-9FEE5082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AFCE7-3541-400D-81BA-CD542BC5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OrgBrainが上回った指標のみ掲載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9E19E-DB5D-42A2-A749-CD9B77D3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4AA97-38E9-4222-A1B6-BBEC05E8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指標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0B23B-C7E8-42A3-B426-43173D32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57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F5281-62E6-44C3-A65D-9EB169C0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573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比較対象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110D8-AE07-432F-B964-EB4E75A5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意味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F69BC-688F-4775-8425-B98AA84E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52020-E098-4AF5-B695-0272B919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検索精度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634B0-B86E-41AD-BD13-496696CF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098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57B6A-88DE-4F41-BF78-1AECF0A8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80% / Mnemosyne 56% / Hindsight 50%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72BC6-E51F-4309-80B5-62FADB90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矛盾・古さ・権限・判断文脈を含む200問で正答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F3305-C48D-472F-94C0-349CD572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96755-DFFF-42AB-8D48-6A8FA51B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Pass^5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C8F09-40F9-448B-A1C3-E93EDE13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861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D0401-3EAA-440E-A534-C400DC52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861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70% / Mnemosyne 51%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8FCC0-B727-4648-A3E0-82CE5539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670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同じ検索を5回繰り返しても安定して正答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F505D-524C-4C86-AAA3-E2400DC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A9443E-8E11-438E-B09F-BA44D7CF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FEC0A8-416B-415C-AF5D-024522D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情報漏えい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D6FF24-86B0-4125-866A-87132CAF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624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AA2DC5-8D6D-45B3-8090-AEAFA08D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624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3競合はいずれも20%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92B588-1513-4750-A6AE-FD32E740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433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テナント・権限境界を越えた検索結果なし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EA0BF1-F982-42E2-BE3D-81A422B6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16C909-ECC9-4357-A9FF-2E403862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検索p95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A1E4E9-873B-4A0D-BB33-D5269E51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13.39ms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8E68E7-6485-4DF3-9A41-A7750343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387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51.07ms / Hindsight 660.25ms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D67BA0-CFE4-4FD1-873D-E70E6CBA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AI実行前の想起を低遅延で追加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215DD7-9D62-43F2-842B-2DFF8D22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169BE1-CB6A-490D-8B8A-63325D44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748340-A117-43BF-AA4C-3D8343D2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C08B12-01EA-43D8-9E7E-0D3577D2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991F56-9924-4D82-9AF6-C29A037D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7F95"/>
                </a:solidFill>
              </a:defRPr>
            </a:pPr>
            <a:r>
              <a:rPr sz="975" b="0">
                <a:solidFill>
                  <a:srgbClr val="6F7F95"/>
                </a:solidFill>
              </a:rPr>
              <a:t>条件：retrieval-only / 200タスク / Apple M2 / 2026-07-31　※OSS全体での普遍的首位を主張する結果ではありません</a:t>
            </a:r>
          </a:p>
        </p:txBody>
      </p:sp>
    </p:spTree>
    <p:extLst>
      <p:ext uri="{BB962C8B-B14F-4D97-AF65-F5344CB8AC3E}">
        <p14:creationId xmlns:p14="http://schemas.microsoft.com/office/powerpoint/2010/main" val="19454599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AE56BF-3DD6-4B2B-96D9-76465BD6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C8220-D7C8-498F-B0C9-279EAAA1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9DA26-FFB2-44CB-8803-771ADCD2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削減効果の例：4職種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01A08-A27E-4D9D-8B12-681AD389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7708B-4E85-4182-BB8E-E6BB0B24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7C4FC-02FF-4143-8A5C-31747ECA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32D9F-5C5A-413E-8140-ED74AB10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日常業務での利用ストーリー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72ABA-0452-4E95-98D0-3479F72C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ソフトウェア開発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FCE08-10AF-4195-98B2-96A40555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4.5h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3326E-BEEA-4D4C-A796-D4CD63F3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7D8FD-6C9E-4CF7-A21B-0D3E87B4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遭遇済みエラーと失敗を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実行前に想起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調査・修正ループを避け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トークンと手戻りを削減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8161D-440F-42DD-8570-B8E34D09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C355A-14BB-47EC-BE6A-6F194D4D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PdM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0CEA8-A7C3-4CB1-869D-297E8104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6.0h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E3B0A-2562-4BCF-A6D3-0473E8B8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3D053C-D5AC-45EB-8B78-181218DD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判断理由・却下案・顧客制約を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仕様検討時に想起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過去の議論と合意形成の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やり直しを削減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666EC-D017-4482-B85C-B5B93005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075BCB-E8FC-4703-85D4-CCC9D6FE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営業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E0622-5FDF-45BF-9785-1879A96D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3.0h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149DA-19AB-4220-96C9-45196A73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EE64DE-2803-4D2C-9328-728A23DE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顧客ごとの合意・例外・過去提案を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商談前に想起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合意違反と社内確認の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往復を防止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2C66A-7A14-4A3B-B76F-9C69AECD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4905A-2701-4536-88F8-BB8A2B8C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バックオフィス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E05E07-5A6D-4C08-B33C-74F3A5FF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4.0h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1D934A-7AB2-450D-B85F-B744F065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AC441F-7B6B-405D-9AEC-D6608D43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例外承認の理由と基準を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担当者間で共有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判断のばらつきと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引き継ぎ負荷を削減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5C1615-1BA2-4564-AD60-48319DF5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1E405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4645FB-C078-4BDE-9ED6-AFB3502F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62625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AIが既知の失敗を回避するほど、完了タスク当たりの再検索・再推論・トークン消費を削減</a:t>
            </a:r>
          </a:p>
        </p:txBody>
      </p:sp>
    </p:spTree>
    <p:extLst>
      <p:ext uri="{BB962C8B-B14F-4D97-AF65-F5344CB8AC3E}">
        <p14:creationId xmlns:p14="http://schemas.microsoft.com/office/powerpoint/2010/main" val="17613893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BA681-C3D4-4F9B-AABB-2703FCD9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D27DB-C008-403F-8ABA-64132252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1FF77-AEAA-44BE-82E8-9D7C524F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100人組織で、年間約3,000万円の改善余地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B1BBA-B7DB-408B-9CAD-BDDF4695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BEA92-5A62-4C1A-B086-18231905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3D1A5-5D9C-4DE2-B5E4-BC97EFD1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BA7A4-9780-434F-BFAB-D459B438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43D3FF"/>
                </a:solidFill>
              </a:defRPr>
            </a:pPr>
            <a:r>
              <a:rPr sz="3900" b="1">
                <a:solidFill>
                  <a:srgbClr val="43D3FF"/>
                </a:solidFill>
              </a:rPr>
              <a:t>年間 3,000万円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5983D-90BC-430C-AB7F-459C0C5D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954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6,000時間相当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2C839-D833-4412-BFB9-DC0AC2A4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探し直し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EEF83-F84B-4FAE-B401-5D3BE40F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1,200万円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744A4-B4D4-485D-AAA5-9444B861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Slack・GitHub・Notionの横断検索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当時の担当者への確認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9624F-E56D-4D6F-A589-FC37C2B4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6分/日 × 20日 × 12か月 × 100人 × 5,000円/h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0F00D-C96B-4061-9B29-35471A3C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12924-3810-4A9A-ADFB-577A6266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記録・引き継ぎ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2B7C3-99AA-4AFB-8A36-6B805EF0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9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1,500万円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C6A1A-E36B-4515-A878-8348B180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会議・AI出力の再整理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理由・制約・変更履歴の手作業による文書化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76ADD-65E5-4E90-8815-9E241752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0.5h × 月5回 × 12か月 × 100人 × 5,000円/h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02910-6A76-45EF-91AE-236E7D1F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88DB1-97DE-42B9-B798-C08F67DC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既知障害・AI失敗の再発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5D0A3E-C87D-454C-A4A0-0300083E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339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300万円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93338-C90C-4643-83FE-AE522FC9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遭遇済みエラーをAIが再実装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原因調査・ロールバック・再レビュー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E9036-5996-405C-BC8E-E16A6F99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101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12件/年 × 50万円/件 × 50%回避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D50A04-8066-448B-A277-8552121F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前提：平均人件費5,000円/h。失敗1件50万円は、開発・QA・緊急対応を含む試算例</a:t>
            </a:r>
          </a:p>
        </p:txBody>
      </p:sp>
    </p:spTree>
    <p:extLst>
      <p:ext uri="{BB962C8B-B14F-4D97-AF65-F5344CB8AC3E}">
        <p14:creationId xmlns:p14="http://schemas.microsoft.com/office/powerpoint/2010/main" val="11094967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827F0A-502F-4B3E-A06B-0DB19BD5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F99CF-906A-466D-BF39-9D4EE19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E4CB3-76E5-479F-9999-92826AD1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効果測定も自動化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E44BA-C48A-48F3-893B-0796174F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0D211-8D54-441E-827A-FEE697EC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F3AF8-6695-44AD-9BC3-A4FCE775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6BEBA-701C-429F-93F4-7A3CDF19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検索・記憶の寄与・比較実験・業務成果を、AI実行ログから継続計測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E0C6E-43AA-4253-AB33-E7D89C81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66A16-406D-4382-939B-6A233BBB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検索ログ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06A54-9DAD-4857-B6F1-D4571FAA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retrieval_events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753D3-D2B8-4965-A808-9E68F08A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検索ごとにヒット・fallback・遅延を自動記録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BF157-F804-47E7-8729-F29371F2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D4A9C-8FC9-4F9A-8C67-98A0AFFA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ヒット率 / p95 / 検索回数を集計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E4C16-F24A-4251-AA33-392EC44F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240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87FEB-A99A-4F32-AA35-3615EE91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メモリー影響ログ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B19DB-4532-4987-919B-C871D49B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memory_impact_events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A6202-DD8B-4520-ABCC-2BA96E05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AI実行後に利用有無・回避検索・根拠IDを報告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9F853-AB09-404F-9226-DF962140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5755AE-3DA8-4C88-9D44-CA53154C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記憶利用率 / 再検索回避率を集計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81E56-F99F-4E99-B4C1-50E2472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3FC908-09D3-4729-A0DA-7CB7C565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比較計測ログ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5E536-1C03-45B7-97F9-67046A4C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measurement_variants / comparisons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76F390-59BD-4132-A8FE-7408594A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同一入力を、記憶なし / ありでペア実行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E47D0-D7BC-4188-A37E-1B782C97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6A47F8-78AB-4C2D-84AE-DB87321A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トークン / 費用 / 完了時間の差分を算出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B8E54D-57C2-45CA-8C23-56C168DF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074AFC-A44A-4ED5-B7F9-43748D18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90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タスク・監査ログ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ECCF1A-27C8-4604-8938-14108A62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tasks / audit_events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00C3F3-70B5-4C14-9F76-A151636E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5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開始・完了・失敗・権限判定を時刻付きで記録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6664D-3479-4738-A627-D10E4D9F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29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0D6D8B-7715-42FA-A1D1-2D681069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05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完了時間 / 成功率 / denied件数を集計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736C8E-A62A-48BD-B9EF-51A7C2ED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3A45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870721-8EBE-4AB5-A89D-AAB80B64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計測設定後は、PoCの実行ログからKPIを自動集計し、導入前ベースラインと比較</a:t>
            </a:r>
          </a:p>
        </p:txBody>
      </p:sp>
    </p:spTree>
    <p:extLst>
      <p:ext uri="{BB962C8B-B14F-4D97-AF65-F5344CB8AC3E}">
        <p14:creationId xmlns:p14="http://schemas.microsoft.com/office/powerpoint/2010/main" val="8045429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7CAE58-E54F-45BE-9FB9-B104587D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A5F58-23E0-4E10-A5EB-43E45CBA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AE0D4-82FC-471D-BB7A-2F7B2024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課金単位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120CF-A221-415A-A72B-7D214FF7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0DC92-90D4-4191-8842-A5BF8B57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83918-44DE-45E5-9A8D-7DD71461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33EC4-573F-4877-B3BD-8285CC5E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10439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436FE-4004-4593-A8FA-D34F6444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比較項目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FFA9E-2F61-4BBB-9B88-FFB65FAB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907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一般的なSaaS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031C9-D1EC-4B22-B42B-225813FE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87D8C-066B-4461-8D7D-77766937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043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FDF0F-6736-47A9-B0EC-B858B0CB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課金単位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B0863-8248-4869-B8BF-6A07870D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ユーザー数 × 単価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3DA46-EA77-4826-9CDF-BC5F0EA5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有効グループ数 × プラン別単価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803B8-A832-4D73-9E6E-F9CA7F31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1C133-0F79-4A45-86DF-CAF9BF6D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利用者の追加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A6E00-B083-4E94-BD60-4A16E7DE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99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人数に比例して増額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5FD5B-6417-4145-A253-FFB0E15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グループ内の全社員・全AIが利用可能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4E82B-0502-4253-8A28-348F2049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6FEAB-73C4-4AE5-94FD-95E091D2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E9964-A7DB-41BB-B79A-5555006A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プランの違い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41E96-350B-4B5A-B5A8-558C3771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62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利用人数や機能数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E0C91E-8889-47DF-B8F9-4A3ECD04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必要なガバナンス・セキュリティ水準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4A707-1D39-4BB5-8F96-F7AF10E1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188E05-C6FA-46EA-9315-E6B854E3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5F4AF2-049A-4183-AF71-3EFF7388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16AD2D-F93D-4597-B5AC-6728826A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14950"/>
            <a:ext cx="94488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344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D8AF6D-1041-4AEB-A73F-564D62F2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人数ではなく、利用グループ数と必要なガバナンスで料金を確定</a:t>
            </a:r>
          </a:p>
        </p:txBody>
      </p:sp>
    </p:spTree>
    <p:extLst>
      <p:ext uri="{BB962C8B-B14F-4D97-AF65-F5344CB8AC3E}">
        <p14:creationId xmlns:p14="http://schemas.microsoft.com/office/powerpoint/2010/main" val="11826944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933C53-C035-4491-878C-2230E6D0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79440-C22E-49F9-8B77-6EA2D2CC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4CB2E-A7EA-4110-B907-6D8BD43C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4つのプランと基本料金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A294C-7B53-42AE-B145-1A2DA987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D3CEB-6D28-4268-B737-447F8305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9CFE7-99F2-401C-A7E5-50A6CA82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1E0AF-5D73-47D4-8D8D-94B97176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月額料金 ＝ 有効グループ数 × プラン別グループ単価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51282-F0D7-4B42-A44A-242B6FEC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F7F95"/>
                </a:solidFill>
              </a:defRPr>
            </a:pPr>
            <a:r>
              <a:rPr sz="1875" b="1">
                <a:solidFill>
                  <a:srgbClr val="6F7F95"/>
                </a:solidFill>
              </a:rPr>
              <a:t>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6887A-C387-4A88-AF1B-56BCB9E8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3万円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E20FF-141E-4EFE-8D15-B4C4B933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グループ・月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56B9C-B22D-4E34-81C4-51B93930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標準機能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6B818-0C0C-4C2B-8F18-3E6E8593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基本的な権限管理で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組織メモリーを利用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ABFA0-49AD-47C5-8D7B-07E86EBC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0E5DC-DE0B-44C8-875E-50C8A3B6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F7F95"/>
                </a:solidFill>
              </a:defRPr>
            </a:pPr>
            <a:r>
              <a:rPr sz="1875" b="1">
                <a:solidFill>
                  <a:srgbClr val="6F7F95"/>
                </a:solidFill>
              </a:rPr>
              <a:t>COMPANY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DCB58-73D9-4E3A-BC81-A7D8BD54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4万円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63DDD-4B50-4A3E-919A-90E04354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グループ・月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4C51E-ED59-4FE7-929E-053DD7EF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組織管理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E6660-6B11-4ABE-9C07-49EE2AC5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管理者による一括設定と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ドメイン制限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DC0DC7-7B31-4CA6-9D7C-9F16FBFF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64A536-FF20-4B6B-A386-E0EBC8C1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3D3FF"/>
                </a:solidFill>
              </a:defRPr>
            </a:pPr>
            <a:r>
              <a:rPr sz="1650" b="1">
                <a:solidFill>
                  <a:srgbClr val="43D3FF"/>
                </a:solidFill>
              </a:rPr>
              <a:t>ENTERPRISE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1CD3B6-03AF-428C-9F35-83FEA1A7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89E8FF"/>
                </a:solidFill>
              </a:defRPr>
            </a:pPr>
            <a:r>
              <a:rPr sz="2700" b="1">
                <a:solidFill>
                  <a:srgbClr val="89E8FF"/>
                </a:solidFill>
              </a:rPr>
              <a:t>5万円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1C32D-D4A1-485A-8610-D56FD51D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グループ・月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40458-EF22-4718-A345-4C89D771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統制・監査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1E09D-A9BC-4E28-9BF6-D57F8D1B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SSO・監査ログ・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高度な権限管理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491EDF-3D3E-4DB2-9FF1-E7B2DE1E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00200"/>
            <a:ext cx="2628900" cy="3524250"/>
          </a:xfrm>
          <a:prstGeom xmlns:a="http://schemas.openxmlformats.org/drawingml/2006/main" prst="roundRect">
            <a:avLst>
              <a:gd name="adj" fmla="val 579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51EC04-AA55-4A80-B03F-262665FE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6B99B3-5F26-4244-B90E-C019B731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F7F95"/>
                </a:solidFill>
              </a:defRPr>
            </a:pPr>
            <a:r>
              <a:rPr sz="1500" b="1">
                <a:solidFill>
                  <a:srgbClr val="6F7F95"/>
                </a:solidFill>
              </a:rPr>
              <a:t>ENTERPRISE PLUS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5E822D-A369-4DDA-8FDC-4C96AB4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10万円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63532D-8518-4A7E-8BAE-B43B8173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グループ・月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E3F14C-8AC9-4C3A-BF92-34087696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専用・個別対応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57BDA8-8D76-4E0C-96F8-C251D21A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専用環境と個別の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セキュリティ要件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F97F46-1577-4746-80E3-8B9E451F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有効グループとは、アーカイブされておらず、メンバーまたはAIが所属するグループ</a:t>
            </a:r>
          </a:p>
        </p:txBody>
      </p:sp>
    </p:spTree>
    <p:extLst>
      <p:ext uri="{BB962C8B-B14F-4D97-AF65-F5344CB8AC3E}">
        <p14:creationId xmlns:p14="http://schemas.microsoft.com/office/powerpoint/2010/main" val="7328838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15E9F13-3F81-4270-BF60-76B81FE0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DFAE0-12C0-4B91-BC21-55C19C15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B96AA-1098-438B-83E7-B08B610A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プラン別の機能差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F033D-6A7B-487C-A67E-C0DB5826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BF636-8C03-4CDA-9DE9-26201946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0C654-506A-4780-BC6B-311676D6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4CC2E-1844-459F-947C-EC3FD135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組織メモリーの基本体験は共通。上位プランほど統制・監査・個別対応を強化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AF989-BDB5-4F10-B9E5-AEC2FF97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86624-57D5-4FE6-9E46-62521EEF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0CA1C-FA84-43EA-AA44-AF526B67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192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3E08C-D5F3-4AF1-91C5-E7437CFD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COMPANY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4E695-3C4D-4C0E-BFAA-E6910E90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9E8FF"/>
                </a:solidFill>
              </a:defRPr>
            </a:pPr>
            <a:r>
              <a:rPr sz="1200" b="1">
                <a:solidFill>
                  <a:srgbClr val="89E8FF"/>
                </a:solidFill>
              </a:rPr>
              <a:t>ENTERPRISE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F766E-632D-453D-A4DD-418CEC4C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192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ENTERPRISE PLUS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8BF10-49A9-429F-9BED-727CF3D1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B5C2B-5B52-4064-8F3A-17600559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組織メモリーの作成・想起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2B36B-679F-47EE-9A3B-7D9DAA5C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478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16B5D-FF16-4B53-90E6-EE6A12B6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CAA5C-6B6C-4B5E-BE48-EFA4BF48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478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DBE3D-A72D-4815-B397-141EB191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478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2AD29-A4A6-458C-B6BF-EDEE6CC0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4A1BE6-706F-46A7-B405-EC2A722F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基本的な権限管理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4CAAF-266C-4230-B72F-5BA426A9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860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809769-A8E7-4FB6-98FB-DEB1D09A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860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AE8C65-7A68-4696-9953-24C98AB3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860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6084FC-2B84-445A-AEED-4535FC8A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860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FC01C7-0CC1-4C87-AB6B-6549E20E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416396-347F-41F4-BC03-85F632AD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62FFE9-ABE7-4EAD-9974-4EBA164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241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組織管理者・一括設定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AFB612-4DAC-4A3C-B407-6E72676B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241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035501-79E7-4B04-9E79-B84961F0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241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6C9C87-19B1-4E80-A1E2-FCE54149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241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64B81F-4901-48AC-8B9D-91543F7E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241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3680A4-849C-4016-97D2-F1E01A4E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3952C6-FA55-4999-8582-DCDC9B23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ドメイン制限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967EB8-7935-473B-9582-F4934CD0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623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20575B-36F8-45FB-8F9A-3FC63EA0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623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FF219D-E2A1-45B4-95BA-207790A0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623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4D4ACA-89F8-4062-B32E-255AEAD8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623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B752B1-77F7-4C1F-B7E0-3D332780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D46C9D-9923-4846-8195-F1CF87CB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5C2390-1BD6-4306-9FFE-2577EFAF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004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SAML / OIDC SSO・SCIM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61F1A4-D73B-4FCB-8BB3-A0CCB99D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004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98367A-849D-4736-8FB0-9842ACCB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004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7F500A-E649-47C6-ACD0-EC03CD9C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004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3FC7F2-50BF-45FD-A2CD-D40B1668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004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C5C4F3-260E-442D-95B0-6FFACDE2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32CEA5-D276-4E8B-8300-AAA91C47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監査ログ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58F5E7-B417-42B3-BDCB-FAEF353E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386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基本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FACCE6-0E44-4291-98CA-698AC175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386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90日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52AA09-5757-47ED-AA09-A9FAFB84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386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1年・出力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7D30B1-C5BD-470A-9535-2F88754C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386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個別設定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2A56DC-BA98-4822-9C31-C61863AC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E38AAB-5406-4DE2-B120-4EE60C3D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9F699B-92F2-4793-ABCC-F9024904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高度な権限・保持ポリシー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5F01C3-8680-41FE-BF12-2710C6E1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767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3327B9-265D-4CE4-984B-89DBC5E5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767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5B93E4-BF28-4F1A-8F4D-B8F8CC55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767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F078D2-CFC9-44DC-ACD3-B8A8445C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767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9270706-7DC3-412C-A5A0-E5CA8725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E42205-8739-4885-8D8C-4F2CFD71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SLA・優先サポート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E29BD9-34C9-4EF1-BAD9-9B8FE71F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149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EAEB7E-0225-4A3D-B621-69DB92D0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149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807E21C-02B0-4F3B-B738-DD37796A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1492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29BD7D-227B-4BB6-94D6-0D0D1FE0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149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専任対応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52D56B-25EF-4ABC-9E62-9BB1291C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6A2DDC8-E782-4275-9D50-07D93BE1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FF2653-8075-4DBC-B659-88E70D1A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530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専用環境・SIEM連携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460536-59D3-4858-AFBA-73398FE7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530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FC83174-A55A-4DD3-8770-D7FF0EF6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530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17AE230-CD78-48E0-9959-A3981C5E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530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－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E5301D1-11C9-4A65-A9C9-161BCCAB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5307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9E8FF"/>
                </a:solidFill>
              </a:defRPr>
            </a:pPr>
            <a:r>
              <a:rPr sz="1125" b="1">
                <a:solidFill>
                  <a:srgbClr val="89E8FF"/>
                </a:solidFill>
              </a:rPr>
              <a:t>●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D23DBCC-5AA9-4D3C-B63D-3A9CA36C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A235693-6678-4465-AEEE-DD8F38C5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5240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2BD2C44-77D7-4C21-B281-B42CBA3B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240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F203ED7-0EA2-44CE-83F8-45407AA2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240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661B9F9-9F28-4037-B9AC-AACDFF2F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524000"/>
            <a:ext cx="0" cy="440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F1B6816-ABCE-4E14-8C35-EEC35827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7F95"/>
                </a:solidFill>
              </a:defRPr>
            </a:pPr>
            <a:r>
              <a:rPr sz="975" b="0">
                <a:solidFill>
                  <a:srgbClr val="6F7F95"/>
                </a:solidFill>
              </a:rPr>
              <a:t>※実装ロードマップを含む機能案。提供時期・詳細仕様は個別に確認</a:t>
            </a:r>
          </a:p>
        </p:txBody>
      </p:sp>
    </p:spTree>
    <p:extLst>
      <p:ext uri="{BB962C8B-B14F-4D97-AF65-F5344CB8AC3E}">
        <p14:creationId xmlns:p14="http://schemas.microsoft.com/office/powerpoint/2010/main" val="20171105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05E01D-F22A-4D55-AE70-A874F8CF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F1C20-FED4-44B9-943E-3824A536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A4DE0-45A3-4ED6-8EE5-5C11874D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追加の従量課金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CFA5E-48D4-4AC6-A584-30EEC7AD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C2D36-6EA5-4C30-A5E4-750E0B18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089DE-DFB3-4576-8582-C8A4E49C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61637-B1C4-4E14-A89F-960036B6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05918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59FC9-8AD5-4498-8A19-BC4DA3FE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グループ基本料金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CC340-3B24-49B0-8276-1FC96A31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002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グループ内の全社員・全AI / コア機能 / 基本メモリー容量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B3279-3926-4C7F-9BC1-3B1013B4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課金項目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A3103-306E-42F6-A35B-62905B29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課金単位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DA9F6-BF49-4E92-93CC-969FFD4A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価格案（税別）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D002B-0B34-4D42-9EFA-F40246EF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98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F64EC-95A5-4485-9A95-BA0DB508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50930-7251-47AC-8822-F4A86143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1接続 / 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7A405-567D-4073-9B72-1ED3A713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3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10万円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AEF86-0C66-40A6-B9F8-122EF7E9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Slack・Notion・GitHub・Salesforce・Teams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0DFB2-1C27-420E-AF64-40E4702D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C829A-2613-4127-9401-64B00FB2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DOMAIN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38700-6F6C-42EB-90BE-25B51BEF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1領域 / 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32725-A5D6-4F66-9736-9DC7AA81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81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2万円〜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877E50-A696-4F69-9799-50E32C21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00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Engineering・Sales・Management Brain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0B08D-F30F-4729-8F35-2252E51B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AC0CF3-1B7E-4E95-9A8E-BF664CDC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 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CAFC2-6AA0-4A17-A2A8-9A3F9178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1,000処理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7EF033-1BA9-4D77-9F1C-42FAAE0D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233B21-5433-4084-A641-D3EBDD73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矛盾検知・資料修正・統合・分析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8CD671-DCD7-4CA8-B727-F7A011F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1C11BD-F346-41A2-9DC6-0F0CE5EB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CUSTOM REQUIREMENTS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FAD476-50CA-442E-A8B3-883F6E00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1案件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7E46A6-432B-46A2-BC21-FB765579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76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個別見積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7D0E24-7023-4EB7-9392-9F5F1596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独自連携・移行支援・個別セキュリティ要件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A1813-388E-431E-A0ED-B100A458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8864A5-7127-4D74-B369-1EC3DDF7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OVERAGE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A1D4AC-D90E-4824-979B-0BB185F9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1GB / 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752EC8-A3B0-40C2-AF55-85C0149F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24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A7C189-19BE-4596-A060-9FC5E6B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43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基本容量の超過分のみ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850BDB-62BC-43AA-A225-AB1E9D1A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※価格案。契約条件・処理負荷・専用環境の要件により変動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11751783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AE58C-3FD5-4EA6-88BD-875335F2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6791E-B973-4D66-818C-BD83EB16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85733-5E58-4125-BA65-3B38D4ED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ライセンス形態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9AB4B-8B9B-40A6-91FA-9AEE4AC2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30A55-C0C9-4EFE-B7E2-66E5A84F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0948D-48BC-4569-A53C-E6B586FA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92458-13A9-48A9-A210-DC7BF9ED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BAFB8-A1D2-4DF4-B608-19BF2F6F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B4706-900D-46E5-80C7-4A32B693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Free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B2B3C-8AE2-4AEC-82C7-E6ADED0A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84FB9-2A18-4DA7-9376-BC147182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個人・プロジェクトで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まず試す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26C2E-D0D3-4EC2-B42A-C07CAC1C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4C800-99FA-48F4-874F-743CEF53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SELF-HOSTED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1521A-E58E-4A06-80C5-2942FE59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Infrastructure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17344-1B5A-4FF6-B91F-F7C5293C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Cloudflare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A231D-85AC-48FA-B841-E30255FE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自社運用で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データを保持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44A0E-B007-4C56-AE74-A761A5F5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CAEED-6B8A-44C6-B7C6-673F4AFC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MANAGED SaaS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F3433-309E-4760-B190-D38DC91A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AFC"/>
                </a:solidFill>
              </a:defRPr>
            </a:pPr>
            <a:r>
              <a:rPr sz="2100" b="1">
                <a:solidFill>
                  <a:srgbClr val="F7FAFC"/>
                </a:solidFill>
              </a:rPr>
              <a:t>Team → Enterprise Plus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572AF-7701-463A-939E-1DBF748F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Managed OrgBrain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68359-38E1-479A-8CDC-C91FF0C6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インフラ保守なしで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全社展開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B4B4A-A697-4D8C-AD1F-355CCD81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Local-firstから、共有・統制・運用支援まで段階的に拡張</a:t>
            </a:r>
          </a:p>
        </p:txBody>
      </p:sp>
    </p:spTree>
    <p:extLst>
      <p:ext uri="{BB962C8B-B14F-4D97-AF65-F5344CB8AC3E}">
        <p14:creationId xmlns:p14="http://schemas.microsoft.com/office/powerpoint/2010/main" val="17896962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09CAF7-0E91-4F35-A9ED-2B48D9D0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E3BA5-27CD-4AEC-B36A-ABB7DBB1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1FB39-07FD-4A1D-9002-654563E1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PoCのご提案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75D14-83F9-4788-9B5C-28B194A3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A9132-A69E-4970-A8C9-BD0F06C9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BAC37-9D90-4861-9563-FE1B050A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BB106-468E-493B-9F74-84E28BCF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1チーム・8週間で、継続判断に必要なROIとリスクを可視化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992FB-8608-40EC-AED9-7CE220F1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2895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283B8-CD7A-48B7-A66C-4B0650FF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72ADD-9E97-4275-BDCF-088822BA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0-2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C96A2-FE63-42E8-AC11-7B1F8657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ベースライン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F133D-8434-4691-9DC2-DE817D17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検索時間・手戻り・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AIコストを計測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57D0F-7084-48BE-8B04-2498418C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A3030-CD8C-45EA-9EC1-597D0DE4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3-6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B4B2D-E820-4C9A-B414-28899CEB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運用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88DEC-F3E8-4BBA-82AE-3D084A3A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1〜2 Adapterを接続し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実業務で利用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EAC5D-5E64-4625-B498-BFBF173B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F0703-804D-4582-8689-5D9454E3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WEEK 7-8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46328-4E5A-4DF6-80EF-36B75BD7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評価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94165-D80B-40D4-927B-200A47F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KPI・ROI・安全性を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共同レビュー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05E11-0CBD-4C36-901A-68C17F2F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8953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EC88C-2243-401B-A8A3-795D05C5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57825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SlackまたはGitHubを接続し、“探し直し”の削減量を実測</a:t>
            </a:r>
          </a:p>
        </p:txBody>
      </p:sp>
    </p:spTree>
    <p:extLst>
      <p:ext uri="{BB962C8B-B14F-4D97-AF65-F5344CB8AC3E}">
        <p14:creationId xmlns:p14="http://schemas.microsoft.com/office/powerpoint/2010/main" val="3625933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AABF6-0EE6-4938-8EDD-585C5B07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76D2C-938A-472E-9628-C4FC2B4A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D6679-34BC-4E8C-95A9-4EB8A753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お問い合わせ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E1274-4C8E-4C50-8107-41516827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6EEB1-743D-4735-8D82-3F5F5BDC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19183-08A1-47CF-8394-DFC642C3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BCC92-1A81-4B4A-8DCC-3387F664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89E8FF"/>
                </a:solidFill>
              </a:defRPr>
            </a:pPr>
            <a:r>
              <a:rPr sz="22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DA651-A9EB-4EC3-BDD9-6C7E964F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01D54-41E9-47C9-AC52-C30EF61E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7FAFC"/>
                </a:solidFill>
              </a:defRPr>
            </a:pPr>
            <a:r>
              <a:rPr sz="36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79C4B-8B24-4E48-8714-68958FAE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導入相談　/　PoC設計　/　Enterprise見積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3D8E7-D3FC-4547-85CF-6C3BDBA0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00500"/>
            <a:ext cx="67437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C04B2-CF51-4DD3-94C6-E93A45F3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0052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github.com/miyajima/org-brain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21404-E479-4990-AA2B-BBA08AE7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9E8FF"/>
                </a:solidFill>
              </a:defRPr>
            </a:pPr>
            <a:r>
              <a:rPr sz="1950" b="1">
                <a:solidFill>
                  <a:srgbClr val="89E8FF"/>
                </a:solidFill>
              </a:rPr>
              <a:t>AIが動くたび、組織が学ぶ</a:t>
            </a:r>
          </a:p>
        </p:txBody>
      </p:sp>
    </p:spTree>
    <p:extLst>
      <p:ext uri="{BB962C8B-B14F-4D97-AF65-F5344CB8AC3E}">
        <p14:creationId xmlns:p14="http://schemas.microsoft.com/office/powerpoint/2010/main" val="446273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2026-08-07T13:57:15.6750000Z</dcterms:created>
  <dcterms:modified xsi:type="dcterms:W3CDTF">2026-08-07T13:57:15.6750000Z</dcterms:modified>
</coreProperties>
</file>