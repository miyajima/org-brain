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ddb20e9fe14e6e" /><Relationship Type="http://schemas.openxmlformats.org/officeDocument/2006/relationships/extended-properties" Target="/docProps/app.xml" Id="Rce37a7c4544d48b4" /><Relationship Type="http://schemas.openxmlformats.org/officeDocument/2006/relationships/officeDocument" Target="/ppt/presentation.xml" Id="R4cc340d9daf342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87a7ce6f99428c"/>
  </p:sldMasterIdLst>
  <p:notesMasterIdLst>
    <p:notesMasterId xmlns:r="http://schemas.openxmlformats.org/officeDocument/2006/relationships" r:id="R1a4ba2d86af34a7b"/>
  </p:notesMasterIdLst>
  <p:sldIdLst>
    <p:sldId xmlns:r="http://schemas.openxmlformats.org/officeDocument/2006/relationships" id="256" r:id="R7b0b53c1bf2946e0"/>
    <p:sldId xmlns:r="http://schemas.openxmlformats.org/officeDocument/2006/relationships" id="257" r:id="R606db687a861434a"/>
    <p:sldId xmlns:r="http://schemas.openxmlformats.org/officeDocument/2006/relationships" id="258" r:id="R53b80654b23f4c03"/>
    <p:sldId xmlns:r="http://schemas.openxmlformats.org/officeDocument/2006/relationships" id="259" r:id="R6820bb968ac24c26"/>
    <p:sldId xmlns:r="http://schemas.openxmlformats.org/officeDocument/2006/relationships" id="260" r:id="R647a222b3aa84aaa"/>
    <p:sldId xmlns:r="http://schemas.openxmlformats.org/officeDocument/2006/relationships" id="261" r:id="R77bc94ae47e54a6b"/>
    <p:sldId xmlns:r="http://schemas.openxmlformats.org/officeDocument/2006/relationships" id="262" r:id="Rb67a9bd363664667"/>
    <p:sldId xmlns:r="http://schemas.openxmlformats.org/officeDocument/2006/relationships" id="263" r:id="R45654874d7014a81"/>
    <p:sldId xmlns:r="http://schemas.openxmlformats.org/officeDocument/2006/relationships" id="264" r:id="R11209443fd13469c"/>
    <p:sldId xmlns:r="http://schemas.openxmlformats.org/officeDocument/2006/relationships" id="265" r:id="R14a0ed8929cf4f3d"/>
    <p:sldId xmlns:r="http://schemas.openxmlformats.org/officeDocument/2006/relationships" id="266" r:id="R1a458cba8a594300"/>
    <p:sldId xmlns:r="http://schemas.openxmlformats.org/officeDocument/2006/relationships" id="267" r:id="Ref2bad3de5824835"/>
    <p:sldId xmlns:r="http://schemas.openxmlformats.org/officeDocument/2006/relationships" id="268" r:id="Rf353f7caac8b4916"/>
    <p:sldId xmlns:r="http://schemas.openxmlformats.org/officeDocument/2006/relationships" id="269" r:id="Rfc5a7c3e939b4e19"/>
    <p:sldId xmlns:r="http://schemas.openxmlformats.org/officeDocument/2006/relationships" id="270" r:id="R6014c060d679421a"/>
    <p:sldId xmlns:r="http://schemas.openxmlformats.org/officeDocument/2006/relationships" id="271" r:id="Rb5510bf461f748e8"/>
    <p:sldId xmlns:r="http://schemas.openxmlformats.org/officeDocument/2006/relationships" id="272" r:id="Rf92687727d204f5d"/>
    <p:sldId xmlns:r="http://schemas.openxmlformats.org/officeDocument/2006/relationships" id="273" r:id="R355a82eb890840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6e113cc7e544ef" /><Relationship Type="http://schemas.openxmlformats.org/officeDocument/2006/relationships/slideMaster" Target="/ppt/slideMasters/slideMaster1.xml" Id="R6887a7ce6f99428c" /><Relationship Type="http://schemas.openxmlformats.org/officeDocument/2006/relationships/notesMaster" Target="/ppt/notesMasters/notesMaster1.xml" Id="R1a4ba2d86af34a7b" /><Relationship Type="http://schemas.openxmlformats.org/officeDocument/2006/relationships/presProps" Target="/ppt/presProps.xml" Id="Rebccdae50bf348d4" /><Relationship Type="http://schemas.openxmlformats.org/officeDocument/2006/relationships/tableStyles" Target="/ppt/tableStyles.xml" Id="R97fc164825284c74" /><Relationship Type="http://schemas.openxmlformats.org/officeDocument/2006/relationships/slide" Target="/ppt/slides/slide1.xml" Id="R7b0b53c1bf2946e0" /><Relationship Type="http://schemas.openxmlformats.org/officeDocument/2006/relationships/slide" Target="/ppt/slides/slide2.xml" Id="R606db687a861434a" /><Relationship Type="http://schemas.openxmlformats.org/officeDocument/2006/relationships/slide" Target="/ppt/slides/slide3.xml" Id="R53b80654b23f4c03" /><Relationship Type="http://schemas.openxmlformats.org/officeDocument/2006/relationships/slide" Target="/ppt/slides/slide4.xml" Id="R6820bb968ac24c26" /><Relationship Type="http://schemas.openxmlformats.org/officeDocument/2006/relationships/slide" Target="/ppt/slides/slide5.xml" Id="R647a222b3aa84aaa" /><Relationship Type="http://schemas.openxmlformats.org/officeDocument/2006/relationships/slide" Target="/ppt/slides/slide6.xml" Id="R77bc94ae47e54a6b" /><Relationship Type="http://schemas.openxmlformats.org/officeDocument/2006/relationships/slide" Target="/ppt/slides/slide7.xml" Id="Rb67a9bd363664667" /><Relationship Type="http://schemas.openxmlformats.org/officeDocument/2006/relationships/slide" Target="/ppt/slides/slide8.xml" Id="R45654874d7014a81" /><Relationship Type="http://schemas.openxmlformats.org/officeDocument/2006/relationships/slide" Target="/ppt/slides/slide9.xml" Id="R11209443fd13469c" /><Relationship Type="http://schemas.openxmlformats.org/officeDocument/2006/relationships/slide" Target="/ppt/slides/slide10.xml" Id="R14a0ed8929cf4f3d" /><Relationship Type="http://schemas.openxmlformats.org/officeDocument/2006/relationships/slide" Target="/ppt/slides/slide11.xml" Id="R1a458cba8a594300" /><Relationship Type="http://schemas.openxmlformats.org/officeDocument/2006/relationships/slide" Target="/ppt/slides/slide12.xml" Id="Ref2bad3de5824835" /><Relationship Type="http://schemas.openxmlformats.org/officeDocument/2006/relationships/slide" Target="/ppt/slides/slide13.xml" Id="Rf353f7caac8b4916" /><Relationship Type="http://schemas.openxmlformats.org/officeDocument/2006/relationships/slide" Target="/ppt/slides/slide14.xml" Id="Rfc5a7c3e939b4e19" /><Relationship Type="http://schemas.openxmlformats.org/officeDocument/2006/relationships/slide" Target="/ppt/slides/slide15.xml" Id="R6014c060d679421a" /><Relationship Type="http://schemas.openxmlformats.org/officeDocument/2006/relationships/slide" Target="/ppt/slides/slide16.xml" Id="Rb5510bf461f748e8" /><Relationship Type="http://schemas.openxmlformats.org/officeDocument/2006/relationships/slide" Target="/ppt/slides/slide17.xml" Id="Rf92687727d204f5d" /><Relationship Type="http://schemas.openxmlformats.org/officeDocument/2006/relationships/slide" Target="/ppt/slides/slide18.xml" Id="R355a82eb890840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16b20c961743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06a73a60054dba" /><Relationship Type="http://schemas.openxmlformats.org/officeDocument/2006/relationships/notesMaster" Target="/ppt/notesMasters/notesMaster1.xml" Id="R3734bdffbee040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4dd380032c49e3" /><Relationship Type="http://schemas.openxmlformats.org/officeDocument/2006/relationships/notesMaster" Target="/ppt/notesMasters/notesMaster1.xml" Id="R945ac1f373e540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7739e03af4498f" /><Relationship Type="http://schemas.openxmlformats.org/officeDocument/2006/relationships/notesMaster" Target="/ppt/notesMasters/notesMaster1.xml" Id="Rdecfbb5ffcf342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9cfce82fc64ebb" /><Relationship Type="http://schemas.openxmlformats.org/officeDocument/2006/relationships/notesMaster" Target="/ppt/notesMasters/notesMaster1.xml" Id="Ra0a3899a364f46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6c990955164264" /><Relationship Type="http://schemas.openxmlformats.org/officeDocument/2006/relationships/notesMaster" Target="/ppt/notesMasters/notesMaster1.xml" Id="Re744f1df137a49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cb5a3888304f74" /><Relationship Type="http://schemas.openxmlformats.org/officeDocument/2006/relationships/notesMaster" Target="/ppt/notesMasters/notesMaster1.xml" Id="R2c7eda3fcd6742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a4d2d83a724ccf" /><Relationship Type="http://schemas.openxmlformats.org/officeDocument/2006/relationships/notesMaster" Target="/ppt/notesMasters/notesMaster1.xml" Id="R5b813cd7276447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71425cd2994a2a" /><Relationship Type="http://schemas.openxmlformats.org/officeDocument/2006/relationships/notesMaster" Target="/ppt/notesMasters/notesMaster1.xml" Id="Rc67c30babc9640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a6fc9ca79d4191" /><Relationship Type="http://schemas.openxmlformats.org/officeDocument/2006/relationships/notesMaster" Target="/ppt/notesMasters/notesMaster1.xml" Id="R435319c12f5f44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220a0d26a14c62" /><Relationship Type="http://schemas.openxmlformats.org/officeDocument/2006/relationships/notesMaster" Target="/ppt/notesMasters/notesMaster1.xml" Id="R5997dd39ce2a4e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acc5355b944363" /><Relationship Type="http://schemas.openxmlformats.org/officeDocument/2006/relationships/notesMaster" Target="/ppt/notesMasters/notesMaster1.xml" Id="Rdd622016e56a4f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9ffebc9dde4339" /><Relationship Type="http://schemas.openxmlformats.org/officeDocument/2006/relationships/notesMaster" Target="/ppt/notesMasters/notesMaster1.xml" Id="Rd9a79928207c4e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a1678a91ba435b" /><Relationship Type="http://schemas.openxmlformats.org/officeDocument/2006/relationships/notesMaster" Target="/ppt/notesMasters/notesMaster1.xml" Id="Re0fc3623eb7942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e5379241584df6" /><Relationship Type="http://schemas.openxmlformats.org/officeDocument/2006/relationships/notesMaster" Target="/ppt/notesMasters/notesMaster1.xml" Id="R0f3855cc9e7545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9fc54cfd924f53" /><Relationship Type="http://schemas.openxmlformats.org/officeDocument/2006/relationships/notesMaster" Target="/ppt/notesMasters/notesMaster1.xml" Id="Rcd037b947ef54d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be06ad44664f34" /><Relationship Type="http://schemas.openxmlformats.org/officeDocument/2006/relationships/notesMaster" Target="/ppt/notesMasters/notesMaster1.xml" Id="R5b068570695c4b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ace1017bca4cb9" /><Relationship Type="http://schemas.openxmlformats.org/officeDocument/2006/relationships/notesMaster" Target="/ppt/notesMasters/notesMaster1.xml" Id="R59a4be4cd45e45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335d6297734852" /><Relationship Type="http://schemas.openxmlformats.org/officeDocument/2006/relationships/notesMaster" Target="/ppt/notesMasters/notesMaster1.xml" Id="Rec2753677bc64c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accessed 2026-08-07.</a:t>
            </a:r>
          </a:p>
          <a:p xmlns:a="http://schemas.openxmlformats.org/drawingml/2006/main">
            <a:r>
              <a:t>- Generated visual: OpenAI Image Generation, organizational-memory-hero.png,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 of the product positioning, value model, pricing concept, and PoC proposal in this deck.</a:t>
            </a:r>
          </a:p>
          <a:p xmlns:a="http://schemas.openxmlformats.org/drawingml/2006/main">
            <a:r>
              <a:t>- Financial impact is an illustrative opportunity model,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sections The Problem and What OrgBrain Does, accessed 2026-08-07.</a:t>
            </a:r>
          </a:p>
          <a:p xmlns:a="http://schemas.openxmlformats.org/drawingml/2006/main">
            <a:r>
              <a:t>- packages/shared/src/memory-lifecycle-types.ts and apps/api-gateway/src/context-engine-service.ts.</a:t>
            </a:r>
          </a:p>
          <a:p xmlns:a="http://schemas.openxmlformats.org/drawingml/2006/main">
            <a:r>
              <a:t>- The AI answer is an illustrative output example,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3.</a:t>
            </a:r>
          </a:p>
          <a:p xmlns:a="http://schemas.openxmlformats.org/drawingml/2006/main">
            <a:r>
              <a:t>- Generated visual: OpenAI Image Generation, organizational-memory-loss-v2.png,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scenario based on the user-provided product concept;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Shared memory loop: Capture, Distill, Connect, Recall,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packages/shared/src/memory-lifecycle-types.ts: MEMORY_KINDS, MEMORY_LIFECYCLE_STATES, MEMORY_SCOPES.</a:t>
            </a:r>
          </a:p>
          <a:p xmlns:a="http://schemas.openxmlformats.org/drawingml/2006/main">
            <a:r>
              <a:t>- apps/api-gateway/src/context-engine-service.ts: decision memory rationale, alternatives, constraints, source refs, versions, validity.</a:t>
            </a:r>
          </a:p>
          <a:p xmlns:a="http://schemas.openxmlformats.org/drawingml/2006/main">
            <a:r>
              <a:t>- The former four drawers came from the user-provided OrgBrain_AI_Memory.pdf and were not a formal implementation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decision-memory example derived from the user-provided product positioning;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artifacts/benchmarks/2026-07-31/competitive-memory-reduced3-orgbrain-v4-fixed-repeat5.json.</a:t>
            </a:r>
          </a:p>
          <a:p xmlns:a="http://schemas.openxmlformats.org/drawingml/2006/main">
            <a:r>
              <a:t>- artifacts/benchmarks/2026-07-31/competitive-memory-reduced3-local-repeat5.json.</a:t>
            </a:r>
          </a:p>
          <a:p xmlns:a="http://schemas.openxmlformats.org/drawingml/2006/main">
            <a:r>
              <a:t>- artifacts/benchmarks/2026-07-31/competitive-memory-reduced3-hindsight-repeat1.json.</a:t>
            </a:r>
          </a:p>
          <a:p xmlns:a="http://schemas.openxmlformats.org/drawingml/2006/main">
            <a:r>
              <a:t>- Hindsight Pass^5 is omitted because its available result is repeat1. Mnemosyne latency is omitted because it was faster than OrgBrain.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8. Figures are presented as illustrative estimates, not reported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this as an opportunity model, not a guaranteed result. Confirm the customer's volumes and adoption assumptions before using it as an ROI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slides 6-7.</a:t>
            </a:r>
          </a:p>
          <a:p xmlns:a="http://schemas.openxmlformats.org/drawingml/2006/main">
            <a:r>
              <a:t>- Updated illustrative recurrence scenario: 12 repeated incidents per year × JPY500,000 impact per incident × 50% avoided = JPY3,000,000.</a:t>
            </a:r>
          </a:p>
          <a:p xmlns:a="http://schemas.openxmlformats.org/drawingml/2006/main">
            <a:r>
              <a:t>- The incident impact represents developer investigation, rollback, QA, review, and urgent response; it is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apps/cap-runner/src/retrieval-metrics.ts and migrations/0004_retrieval_metrics.sql.</a:t>
            </a:r>
          </a:p>
          <a:p xmlns:a="http://schemas.openxmlformats.org/drawingml/2006/main">
            <a:r>
              <a:t>- apps/api-gateway/src/memory-impact-service.ts and migrations/0018_memory_impact.sql.</a:t>
            </a:r>
          </a:p>
          <a:p xmlns:a="http://schemas.openxmlformats.org/drawingml/2006/main">
            <a:r>
              <a:t>- apps/cap-runner/src/index.ts: measurement_variants and measurement_comparisons writes.</a:t>
            </a:r>
          </a:p>
          <a:p xmlns:a="http://schemas.openxmlformats.org/drawingml/2006/main">
            <a:r>
              <a:t>- apps/api-gateway/src/operations-service.ts and migrations/0015_rbac_audit.sql.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pricing philosophy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plan names and price images in the Codex task, 2026-08-07. Plan positioning is an illustrative packaging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billing components in the Codex task, 2026-08-07.</a:t>
            </a:r>
          </a:p>
          <a:p xmlns:a="http://schemas.openxmlformats.org/drawingml/2006/main">
            <a:r>
              <a:t>- Unit prices are an illustrative packaging proposal added for this revision; they are not approved or published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Choose Your Mode section, accessed 2026-08-07.</a:t>
            </a:r>
          </a:p>
          <a:p xmlns:a="http://schemas.openxmlformats.org/drawingml/2006/main">
            <a:r>
              <a:t>- User-provided managed plan concept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PoC approach proposed for this deck; schedule and targets should be tailored to the customer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repository: https://github.com/miyajima/org-brain,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4343e876249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212ac2510f41e6" /><Relationship Type="http://schemas.openxmlformats.org/officeDocument/2006/relationships/slideLayout" Target="/ppt/slideLayouts/slideLayout1.xml" Id="R66b21e0d5caa40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b21e0d5caa40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ba280e2a54145" /><Relationship Type="http://schemas.openxmlformats.org/officeDocument/2006/relationships/image" Target="/ppt/media/image.png" Id="Ra127695bce5c432c" /><Relationship Type="http://schemas.openxmlformats.org/officeDocument/2006/relationships/notesSlide" Target="/ppt/notesSlides/notesSlide1.xml" Id="R9c03919c52484b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9d183cb7a4894" /><Relationship Type="http://schemas.openxmlformats.org/officeDocument/2006/relationships/notesSlide" Target="/ppt/notesSlides/notesSlide2.xml" Id="Rc2d8d78327dc44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17279e8f74f94" /><Relationship Type="http://schemas.openxmlformats.org/officeDocument/2006/relationships/notesSlide" Target="/ppt/notesSlides/notesSlide3.xml" Id="R931030c2b34e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1dfa593084aac" /><Relationship Type="http://schemas.openxmlformats.org/officeDocument/2006/relationships/image" Target="/ppt/media/image2.png" Id="R167d503cb892437f" /><Relationship Type="http://schemas.openxmlformats.org/officeDocument/2006/relationships/notesSlide" Target="/ppt/notesSlides/notesSlide4.xml" Id="R65e660ed5cd345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f9a1548b6439d" /><Relationship Type="http://schemas.openxmlformats.org/officeDocument/2006/relationships/notesSlide" Target="/ppt/notesSlides/notesSlide5.xml" Id="R165e6186cdec41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afcd243874f62" /><Relationship Type="http://schemas.openxmlformats.org/officeDocument/2006/relationships/notesSlide" Target="/ppt/notesSlides/notesSlide6.xml" Id="R0247b686f7754c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981e1602f4612" /><Relationship Type="http://schemas.openxmlformats.org/officeDocument/2006/relationships/notesSlide" Target="/ppt/notesSlides/notesSlide7.xml" Id="R0fbdd8513ccd4e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317e0c85946c9" /><Relationship Type="http://schemas.openxmlformats.org/officeDocument/2006/relationships/notesSlide" Target="/ppt/notesSlides/notesSlide8.xml" Id="R909e2422610f43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585dcd13b407c" /><Relationship Type="http://schemas.openxmlformats.org/officeDocument/2006/relationships/notesSlide" Target="/ppt/notesSlides/notesSlide9.xml" Id="Rab8e111dc96344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09a194a4f4874" /><Relationship Type="http://schemas.openxmlformats.org/officeDocument/2006/relationships/notesSlide" Target="/ppt/notesSlides/notesSlide10.xml" Id="Rb4d8b8a6450241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197fbe34b4829" /><Relationship Type="http://schemas.openxmlformats.org/officeDocument/2006/relationships/notesSlide" Target="/ppt/notesSlides/notesSlide11.xml" Id="R4fd5ce1f8cca4e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5f857f5c94745" /><Relationship Type="http://schemas.openxmlformats.org/officeDocument/2006/relationships/notesSlide" Target="/ppt/notesSlides/notesSlide12.xml" Id="Raf10d61fb6dc4f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95c0bc3a24422" /><Relationship Type="http://schemas.openxmlformats.org/officeDocument/2006/relationships/notesSlide" Target="/ppt/notesSlides/notesSlide13.xml" Id="R61fa0884bd4c41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95d76a6e54ce5" /><Relationship Type="http://schemas.openxmlformats.org/officeDocument/2006/relationships/notesSlide" Target="/ppt/notesSlides/notesSlide14.xml" Id="R1cb5930834a144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11ae93cf64515" /><Relationship Type="http://schemas.openxmlformats.org/officeDocument/2006/relationships/notesSlide" Target="/ppt/notesSlides/notesSlide15.xml" Id="R34c16df606a146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4af1029574a35" /><Relationship Type="http://schemas.openxmlformats.org/officeDocument/2006/relationships/notesSlide" Target="/ppt/notesSlides/notesSlide16.xml" Id="Rf5fe0882814745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06ddf0ffa4fc6" /><Relationship Type="http://schemas.openxmlformats.org/officeDocument/2006/relationships/notesSlide" Target="/ppt/notesSlides/notesSlide17.xml" Id="R4f097e21286047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5853a45da4d8b" /><Relationship Type="http://schemas.openxmlformats.org/officeDocument/2006/relationships/notesSlide" Target="/ppt/notesSlides/notesSlide18.xml" Id="R7688dee2f3c741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7695bce5c432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C3751-5A70-43D6-9C6B-E631625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D4FA6-98DE-4F58-B78D-3F67064B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3FF"/>
                </a:solidFill>
              </a:defRPr>
            </a:pPr>
            <a:r>
              <a:rPr sz="105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0F02C-32A1-4275-AB8B-AEB57042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AIが動くたび、</a:t>
            </a:r>
          </a:p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76703-9B6B-4C38-9F1E-0AA3029E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判断の背景を、次のAI実行が使える組織知へ</a:t>
            </a:r>
          </a:p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理由・制約・結果を残し、同じ失敗を繰り返さない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2324C-3F84-4ADF-8135-DEF597EA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B7EEF-626B-4677-94E2-99BDB44C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07C86-D44D-4883-B0E2-D71DABE2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OrgBrain</a:t>
            </a:r>
          </a:p>
        </p:txBody>
      </p:sp>
    </p:spTree>
    <p:extLst>
      <p:ext uri="{BB962C8B-B14F-4D97-AF65-F5344CB8AC3E}">
        <p14:creationId xmlns:p14="http://schemas.microsoft.com/office/powerpoint/2010/main" val="10505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3F4BB-3D3C-45BE-A97D-1B5C37C3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B2B5D-D6F7-4324-8095-E8FDD1FF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0439B-70E5-4AE1-9080-24D555C5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OrgBrain サマリー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04633-FBE2-4A56-9DCA-941AEE7B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BDD84-9CE5-4499-96B8-4A844F59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14605-33E9-4F17-93DB-6DBDCA56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08E37-2DD8-4CDF-98A5-ACCC7415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9E8FF"/>
                </a:solidFill>
              </a:defRPr>
            </a:pPr>
            <a:r>
              <a:rPr sz="2400" b="1">
                <a:solidFill>
                  <a:srgbClr val="89E8FF"/>
                </a:solidFill>
              </a:rPr>
              <a:t>AIが動くたび、組織が学ぶ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38600-87BC-4FAD-9C20-5755DEB6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4C7"/>
                </a:solidFill>
              </a:defRPr>
            </a:pPr>
            <a:r>
              <a:rPr sz="1500" b="1">
                <a:solidFill>
                  <a:srgbClr val="A8B4C7"/>
                </a:solidFill>
              </a:rPr>
              <a:t>課題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08EED-8870-446D-84CC-7C099A22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859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判断理由が会話・ログ・人に散在し、人もAIも毎回ゼロから再調査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49529-7415-4202-AC6E-77180839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9F8EF-0662-4D50-8711-B9988659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4C7"/>
                </a:solidFill>
              </a:defRPr>
            </a:pPr>
            <a:r>
              <a:rPr sz="1500" b="1">
                <a:solidFill>
                  <a:srgbClr val="A8B4C7"/>
                </a:solidFill>
              </a:rPr>
              <a:t>仕組み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38442-3F8F-4039-82FF-F2837EEA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結論・理由・制約・却下案・出典を仕事の痕跡から記憶し、次のAI実行で想起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018B7-8C3B-4D05-BD20-9C83E8C4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F4EF8-B6EF-4DE2-93C6-4A678C6B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9E8FF"/>
                </a:solidFill>
              </a:defRPr>
            </a:pPr>
            <a:r>
              <a:rPr sz="1500" b="1">
                <a:solidFill>
                  <a:srgbClr val="89E8FF"/>
                </a:solidFill>
              </a:rPr>
              <a:t>導入効果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94694-55F4-4EF2-A277-B710550B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623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100人組織で年間約3,000万円・6,000時間の改善余地（試算）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FDFF4-1907-40B5-A985-1A8FD723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49B1F-87D0-47E0-901D-F51CC168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4C7"/>
                </a:solidFill>
              </a:defRPr>
            </a:pPr>
            <a:r>
              <a:rPr sz="1500" b="1">
                <a:solidFill>
                  <a:srgbClr val="A8B4C7"/>
                </a:solidFill>
              </a:rPr>
              <a:t>導入方法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19477-3709-4B89-8C6D-BA675C8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005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組織単位3万円/月〜、1チーム・8週間のPoCから開始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C8B88-0C00-4600-B7CC-DE8D923D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92703-8175-4E48-8327-766B80A3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9750"/>
            <a:ext cx="1024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人数ではなく、組織メモリーをどこまで広く・深く使うかで課金</a:t>
            </a:r>
          </a:p>
        </p:txBody>
      </p:sp>
    </p:spTree>
    <p:extLst>
      <p:ext uri="{BB962C8B-B14F-4D97-AF65-F5344CB8AC3E}">
        <p14:creationId xmlns:p14="http://schemas.microsoft.com/office/powerpoint/2010/main" val="816670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A3F0DC-E689-4169-90AB-6BB52342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D84BE-EEAC-41C3-B915-0FD478B7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FB746-5316-4933-B843-C7E10D27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「これって、なんでこうしたんだっけ？」をなくす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989E7-F001-476D-9E75-CFEEA361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2144B-0347-4061-8AC3-E55626CC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71A3A-5F78-421E-B703-039AA69E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E44D0-FC30-4B34-86F8-0C1F5BA4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D5523-9181-4F95-B31D-7760C34D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40D72-5ED8-424B-A3BD-F56767AB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36F7A-0187-47B4-BD58-670D8568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E0A0"/>
                </a:solidFill>
              </a:defRPr>
            </a:pPr>
            <a:r>
              <a:rPr sz="2025" b="1">
                <a:solidFill>
                  <a:srgbClr val="FFE0A0"/>
                </a:solidFill>
              </a:rPr>
              <a:t>理由が、会話・ログ・人に散在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F6ECC-3203-46D5-8517-A96981F6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判断した瞬間に、理由ごと記憶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9BE17-8829-45C0-B186-D295E526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F7797-D6EB-4CD5-B276-BDCD60D2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横断検索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50A25-8A55-48DC-A8BF-AE5F3939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Slack・Issue・議事録を探す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7E45A-4666-4014-B67D-24C1A661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2957F-2472-4EFC-892F-6B97578B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背景を再推論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C1E50-04E7-4533-A3DF-35939B59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断片から『なぜ』を推測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2DDC7-FFBA-45AF-AAF7-1DE45F05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B3AE1-1D5E-4CDD-B10B-B5611F92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人に確認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F056A-36F4-4BD9-8578-BE63B821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担当者不在なら答えが消失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62BB7-7D61-42D6-A46B-3A2A3413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E0A0"/>
                </a:solidFill>
              </a:defRPr>
            </a:pPr>
            <a:r>
              <a:rPr sz="1500" b="1">
                <a:solidFill>
                  <a:srgbClr val="FFE0A0"/>
                </a:solidFill>
              </a:rPr>
              <a:t>人もAIも、毎回ゼロから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58AB4F-FED5-4433-8E64-69574605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C683D2-12AF-4FD5-ACCF-66D8ACF2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47E3A-35DC-432A-B788-C47DA6ED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672832-B83C-4038-B1B9-0DA70312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1  記録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3696F-2697-4110-B83A-35DE2FB4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Slack・GitHub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2478AB-E78E-405D-B126-0900F1F5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06EAB0-859D-440A-874C-E683A5E0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2  構造化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ABB5C7-0B15-4C3D-8B29-0FB62383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理由・制約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却下案・出典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F5E8F6-DB88-45CE-AD88-E08FDAD9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C63A8A-3CB1-4C38-A784-FDF2CAD7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3  想起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66C295-FCB1-4CB4-B83E-9C06A262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権限に合う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記憶を検索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B61E8E-9175-44A2-B604-FB0497CD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次のAI実行で、根拠付き回答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23BB0A-2D94-406C-9AA8-2678D9D1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75122A-3DBC-4D38-9D1F-79176B53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AIへの質問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E425C1-3D7D-4E59-8EB5-C00FD329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なぜA社だけ例外仕様？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DED592-3FD7-4EDF-BB5B-58C0907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EA99FE-1583-4177-BA0D-6D9DEAA4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根拠付きの出力例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8359AA-C4A4-4425-A761-0666CD95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SAML要件の期限が理由。全顧客同時リリースは納期超過で却下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864B6E-8268-46B1-BB59-1768A5D9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</p:spTree>
    <p:extLst>
      <p:ext uri="{BB962C8B-B14F-4D97-AF65-F5344CB8AC3E}">
        <p14:creationId xmlns:p14="http://schemas.microsoft.com/office/powerpoint/2010/main" val="943708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d503cb892437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721B2-25B9-4068-82AD-9523C255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1E157-8009-411A-B06E-523388AD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EAAD0-9D53-4188-B561-0BB34726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A6F42-8A24-4F63-95CC-9AA91703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人が辞めるたび、組織は記憶をなくす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C9D9B-80B1-4C0A-BF26-098A2296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退職者とともに、判断理由・失敗・暗黙の制約まで組織から抜け落ちる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D900A-73BF-4260-8C05-44B22D01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8496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8101A">
              <a:alpha val="92000"/>
            </a:srgbClr>
          </a:solidFill>
          <a:ln xmlns:a="http://schemas.openxmlformats.org/drawingml/2006/main" w="9525">
            <a:solidFill>
              <a:srgbClr val="6D5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9F7F4-DB0D-4B1F-A002-016D13D5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同じ失敗の再発は、組織が覚えていないことの帰結</a:t>
            </a:r>
          </a:p>
        </p:txBody>
      </p:sp>
    </p:spTree>
    <p:extLst>
      <p:ext uri="{BB962C8B-B14F-4D97-AF65-F5344CB8AC3E}">
        <p14:creationId xmlns:p14="http://schemas.microsoft.com/office/powerpoint/2010/main" val="426197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63E86-0513-4ADF-873D-41A7DDAF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106A5-43AC-4D5D-AAE5-A37528C4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0E5F3-BAE2-47CC-8365-84C76A99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人もAIも、同じ質問に毎回ゼロから回答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5BAF7-C273-43AA-A289-386DE23C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A5C9D-7481-4FC0-9AFC-7E98B9CB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C40B5-6FCF-4405-8E70-669F6E10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5EBF9-EC59-4BE2-B4B8-AB7E8714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WITHOUT ORGBRAIN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15895-3FD4-4669-8999-94254F29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WITH 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D203B-9BA8-4F49-B712-21D062B1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3AF41-1C4E-4258-B2A5-DBD51A25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F034E-4043-406A-9CBD-A078F8FC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人がSlackを再検索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06CB7-5346-4FEF-B40D-A235CF52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BF52D-8FE2-4C08-ACD0-2152D387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090D6-F194-4A59-BAC2-B531A32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AIもログと文書を再検索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7F5D1-43AE-45B8-AE0D-56B8BC1B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FF262-1D32-4434-B96E-0947BD4D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088C6-5751-42B2-BA1E-B2668A97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人もAIも背景を再推論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00D2F-8564-4DE7-A72C-65CF9375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「なぜA社だけ例外仕様なの？」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31CD1-6971-444E-9CB6-9600D364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762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8BC09-C68F-4E0D-8E38-6B3809D4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21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A社のSAML要件により先行対応。</a:t>
            </a:r>
          </a:p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代替案Bは、納期と権限設計の制約で却下されました。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58BEE-0F3A-425D-A69C-1A7BBD53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E87C5-065B-4A9A-AE46-CD0C90F5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理由・制約・却下案・出典をセットで想起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05C36-16AB-4E87-85A4-559040E5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14E47-C521-4D1A-8960-76998FEB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00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279549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D26FC6-C9A9-4757-AE99-8F88D403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61B58-B52D-401C-97D6-66DE72BE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CEF34-F550-44E4-A10F-4602B56F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普段の仕事が、そのまま組織の記憶に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0992C-ACAC-432B-9359-6D36F224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FA320-0E4B-483C-806A-19E4292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7F7CA-BA31-462D-BC23-B02445BA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6574D-B51D-43E6-8CF8-D6DB9DEA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追加入力なしで、既存の仕事の痕跡から必要な文脈を整理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01DAF-A05D-4F11-9DFE-D299E7FF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1D586-3111-47C7-B574-DA48BD8F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477B4-311A-48AF-B901-D3527CE6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F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730AE-C38A-4449-A0A4-568458A5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9FE06-2340-4229-9873-0AE6D6CB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C"/>
                </a:solidFill>
              </a:defRPr>
            </a:pPr>
            <a:r>
              <a:rPr sz="1950" b="1">
                <a:solidFill>
                  <a:srgbClr val="F7FAFC"/>
                </a:solidFill>
              </a:rPr>
              <a:t>仕事の痕跡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C3E5B-D885-4CD8-8067-E877AC1F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Slack  /  GitHub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Notion  /  AI実行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42E95-E0EB-4647-BF10-CE28F6DE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4FBEF-A2B6-471B-96AB-1DA01E64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83722-5041-46B6-ABC5-D46BDB5F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組織記憶レイヤー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E7C4C-1523-45C0-9BD0-39F2DA51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理由・関係・履歴を構造化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7D475-A913-48C1-B1A9-2EABB3E2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8A44F-3C04-4068-BDE2-5F51E0B8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次のAI実行時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EF089-65CF-4AD8-9306-37572EA3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関連記憶を想起し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ゼロから始めない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40531-DC4B-499C-9A60-0C0A679F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CAPTURE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59B1A-3306-471E-873D-55844F99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記録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5233D-79D5-438B-A89F-49DD9052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58BF8-7BE7-4BAC-9ADF-77111DFD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DISTILL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AEBD1-AE97-4025-8418-2C02CE12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選別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2AE017-9D27-4A48-950C-87D227B0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21AE08-2045-4D99-9606-C66D0D7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CONNECT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0360E0-D3C0-49ED-A23F-230DE5D3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接続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9EE29E-2D56-40EC-B86E-1A00BC1F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E3BF83-745E-4791-B021-4B20D114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RECALL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1272CF-8A79-409D-A733-271F8775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想起</a:t>
            </a:r>
          </a:p>
        </p:txBody>
      </p:sp>
    </p:spTree>
    <p:extLst>
      <p:ext uri="{BB962C8B-B14F-4D97-AF65-F5344CB8AC3E}">
        <p14:creationId xmlns:p14="http://schemas.microsoft.com/office/powerpoint/2010/main" val="2633026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B6CAC-F80C-401D-BFF1-90D4492E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75467-A657-44B2-9519-DCE590A0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966F0-4F8E-49D1-A931-DC9FD373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記憶を、種類・範囲・状態・根拠で構造化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C8B17-B48D-41FC-B09D-CD3C483B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6116E-D1C1-4A66-B613-B8D4FD99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AC3F1-71EB-43C6-A094-203E1FC1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F57DB-4FE2-424D-9CF5-C49A7167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4C3F4-819F-41CD-B95F-41E152BC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914FE-E77A-4CB2-BE77-EC7C0297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種類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72090-6A07-4D64-B80B-13261592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decision / constraint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pitfall / preference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ほか4種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74615-9C28-45D4-88F1-F1CE35A3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2860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4D42B-1870-4392-84C1-EDFFFFDD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9C68E-E46A-448D-AC3D-C2BA21AF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061BD-B4A8-487C-A97A-7157BA7F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project / org / tenant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の3スコープ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D47A5-D1CB-48A1-A5A3-FEC05EB0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860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79250-E09D-464F-9DDE-9165DDD2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31375-DE29-4AD4-856A-00199333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状態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1CEF1-CB32-4366-8680-F22009A9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有効・抑制・統合・昇格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792A3-51D3-4A83-8DFC-6FF3E5C4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2860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1177D-EA4C-4243-B2D9-6B1338CA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A1242-9854-43EA-98D2-C678E388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根拠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C14C6-89FF-464C-B4D1-8D7EFD5B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理由・却下案・制約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出典・版・有効期限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3AD4D-2745-46E4-9A83-C3D02B14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質問と権限に応じて4軸を組み合わせ、根拠付きの記憶を次のAI実行へ</a:t>
            </a:r>
          </a:p>
        </p:txBody>
      </p:sp>
    </p:spTree>
    <p:extLst>
      <p:ext uri="{BB962C8B-B14F-4D97-AF65-F5344CB8AC3E}">
        <p14:creationId xmlns:p14="http://schemas.microsoft.com/office/powerpoint/2010/main" val="942365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3CC2B-B9ED-4874-9760-941C42E4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BF3F4-2B07-48AB-A7A0-BD9FF054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052DA-7EAD-4124-8667-886742C2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結論だけでなく、理由・制約・出典まで記録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95148-13B2-4687-B4D4-83E6EFDA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53760-EFB3-4797-A00A-6FEC1756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09FA1-EEA7-4A4D-AABF-1E0C24F2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C3459-19AB-4655-8B05-363E926D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DECISION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044C3-AA56-40DB-970C-58035B57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A社だけSAML対応を先行する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31C00-5869-4DA3-9EE1-036DDD10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05A61-DC91-4D36-B495-283CBB45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EF4C9-39A7-49C5-88D2-4F9F7B56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契約更新までにSSOが必須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1664B-F363-44B7-9D88-82F8EC0D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制約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5CDF2-FB12-4479-943E-438B105F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既存権限モデルを変更しない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439AD-128B-445A-AA84-87211AE4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却下案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9B69E-712F-4552-88B0-BEC1CC8F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全顧客向け同時リリースは納期超過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BC54E-DB3C-406E-918E-E49A0CA4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D3FF"/>
                </a:solidFill>
              </a:defRPr>
            </a:pPr>
            <a:r>
              <a:rPr sz="1350" b="1">
                <a:solidFill>
                  <a:srgbClr val="43D3FF"/>
                </a:solidFill>
              </a:rPr>
              <a:t>出典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2FD9D-3E9F-4801-AB0B-65772CC5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Slack / GitHub Issue / 仕様書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BF71F-57AB-42D3-B139-B8201CE6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3143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E2434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EC7EA-0496-44EB-BB8E-8AE75CFC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次のAI実行で</a:t>
            </a:r>
          </a:p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できること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0D01C-EFF4-41F1-9440-17CCFC11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2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02211-FDE9-44D4-8503-6C20C754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説明責任のある回答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例外条件の再利用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同じ失敗の事前警告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44DE8-636C-405B-8F54-30E2CB08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18740899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47EFF8-7C5E-48B7-8BA9-FEF5C5EF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D339D-BFEF-4535-ADA3-0C17359A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74553-B829-43D0-9F00-B9B95BB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同一ハーネスで、検索品質と安全性を確認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D0D1F-41A2-4BDB-8A09-4E1CA6F4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91646-9961-4427-A762-6B86B391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C5A25-C220-494C-84F2-D58A9D83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51A61-1FB1-4DEB-8D66-975B2BE3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OrgBrainが上回った指標のみ掲載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F16EA-98FB-4701-9043-056A1E92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B285D-DE9C-4436-98AC-EBB1B746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検索精度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81CB8-4B91-402F-B2F0-84353CD8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14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AB694-1C2C-4653-99F9-C58DD64A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Mem0 80% / Mnemosyne 56% / Hindsight 50%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1C8A2-D055-46B2-A928-54C6E150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05025"/>
            <a:ext cx="821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矛盾・古さ・権限・判断文脈を含む200問で正答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A50B1-CC14-4D00-AA52-DC1C982E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15977-681A-488B-AFFF-51DA19A2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Pass^5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B4DC4-148F-44D2-847E-61911CC3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158A-86D6-43EA-AA2C-E792CE1D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Mem0 70% / Mnemosyne 51%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AE195-9D4A-44AD-B89A-944C1AEF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33725"/>
            <a:ext cx="821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同じ検索を5回繰り返しても安定して正答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2C47D-6A14-495C-B0C0-2707647B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974BB-2ED4-4A1A-BDBB-AC3675B8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情報漏えい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2E806-9C99-4D06-9F69-FA8EDE1E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71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6D6A3"/>
                </a:solidFill>
              </a:defRPr>
            </a:pPr>
            <a:r>
              <a:rPr sz="2325" b="1">
                <a:solidFill>
                  <a:srgbClr val="56D6A3"/>
                </a:solidFill>
              </a:rPr>
              <a:t>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74C78-E49F-4751-8E69-39F8465D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3競合はいずれも20%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90121-19CA-4907-8A33-8AC19B42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62425"/>
            <a:ext cx="821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テナント・権限境界を越えた検索結果なし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EBA69-CB8E-4808-B607-B1171CFE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17835-5990-4FA5-97CA-594CD526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検索p95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C31D5A-677E-452E-993B-A4542AA8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00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13.39ms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4F5EA-62AA-4AE5-A0D1-AC3CC710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96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Mem0 51.07ms / Hindsight 660.25ms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BC96C2-5645-4E96-8EB1-BACA243F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91125"/>
            <a:ext cx="821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AI実行前の想起を低遅延で追加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E6C1A1-AF67-433B-998B-50BA1E24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条件：retrieval-only / 200タスク / Apple M2 / 2026-07-31　※OSS全体での普遍的首位を主張する結果ではありません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0501293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6624D-6D56-4FE4-B477-A7267DB6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02689-9CDE-41BA-B5DC-C878FBE2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F5616-B4F8-49D5-8B52-CFDD339D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代表4職種で、AIと人の“やり直し”を削減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87BB4-46AC-4A06-B681-000B84C1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DB9FB-5E5E-4D68-A581-BFC9A68B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85A56-3981-45F6-8E8F-C53F3C54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33B68-F9C1-4D4A-B8FE-CC96545E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日常業務での利用ストーリー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A3340-C96C-4954-9C8E-909F9395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ソフトウェア開発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1DCE6-7DE7-430A-80CE-E99BC57D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4.5h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54D7C-8987-4BAF-90BA-1EBE7146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2D095-60E3-4DEA-9BAC-EF2CC751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遭遇済みエラーと失敗を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実行前に想起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調査・修正ループを避け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トークンと手戻りを削減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36E87-C15F-4903-A4C6-15D75E21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22B0A-75C5-4ADD-959E-C74969D3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PdM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ED6E5-6DA0-4DEF-9764-27EECF6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6.0h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D8C86-8A65-41E9-AA12-5F612139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76393-ECFF-4559-A7EA-1BD6BDCB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判断理由・却下案・顧客制約を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仕様検討時に想起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過去の議論と合意形成の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やり直しを削減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1654B-4FFA-41EC-8E67-74DD55B3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D7C932-3BE3-4915-AD95-59B6CC6A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営業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657E7-0802-455C-967C-0FEEDD34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3.0h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9768D-2EEB-4345-818B-D52EB0D3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EFB11-116D-44B0-8657-B90F640B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顧客ごとの合意・例外・過去提案を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商談前に想起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合意違反と社内確認の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往復を防止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EC59B-5D45-4814-A9CF-6EC6E41B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64B39-E77A-4B6D-B61A-686AC661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バックオフィス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235B58-C04A-457C-9F9E-3A6FD0CA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4.0h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45A1C0-C3BD-4E42-B966-BF9EF1E2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580B38-B516-410A-9BFE-F79451F3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例外承認の理由と基準を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担当者間で共有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判断のばらつきと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引き継ぎ負荷を削減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FD9FB9-EC11-4881-A7AD-DCFE077B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1E40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8980C7-D73D-4148-BA5F-8736612F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AIが既知の失敗を回避するほど、完了タスク当たりの再検索・再推論・トークン消費を削減</a:t>
            </a:r>
          </a:p>
        </p:txBody>
      </p:sp>
    </p:spTree>
    <p:extLst>
      <p:ext uri="{BB962C8B-B14F-4D97-AF65-F5344CB8AC3E}">
        <p14:creationId xmlns:p14="http://schemas.microsoft.com/office/powerpoint/2010/main" val="19971707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15020-FA38-420E-815E-3E60F43B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07CA4-CA50-409E-9872-AC2835FB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43A82-6155-413A-9D2C-7710036C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100人組織で、年間約3,000万円の改善余地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3A2C6-0198-4CE3-8CC6-5FC9AD58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E7585-DDA8-44C5-9925-80CD06F4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F80B5-A0E8-425D-BC95-7AFEE47A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338D6-0D3A-419E-8843-45A93AAD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3D3FF"/>
                </a:solidFill>
              </a:defRPr>
            </a:pPr>
            <a:r>
              <a:rPr sz="3900" b="1">
                <a:solidFill>
                  <a:srgbClr val="43D3FF"/>
                </a:solidFill>
              </a:rPr>
              <a:t>年間 3,000万円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DD4C9-F70E-4D26-AF4A-2EA65C9D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6,000時間相当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43D72-F7CD-4B05-9B50-DFF6A85A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探し直し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3040E-A0DC-456F-B303-687E29B4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1,200万円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F9855-D3F8-49B4-9347-619BDA0D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Slack・GitHub・Notionの横断検索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当時の担当者への確認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7A4F4-69CF-4725-92AA-2EB36C74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6分/日 × 20日 × 12か月 × 100人 × 5,000円/h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9A563-E190-43A4-BE48-71004DC4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F62C6-1C34-4A46-8E36-B519AD61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記録・引き継ぎ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F8C72-F9F5-4CE8-9E42-44E03781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9E8FF"/>
                </a:solidFill>
              </a:defRPr>
            </a:pPr>
            <a:r>
              <a:rPr sz="2100" b="1">
                <a:solidFill>
                  <a:srgbClr val="89E8FF"/>
                </a:solidFill>
              </a:rPr>
              <a:t>1,500万円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332E9-1B77-4FF7-A57B-43118C4B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会議・AI出力の再整理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理由・制約・変更履歴の手作業による文書化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B8918-67B9-47C4-9FAB-3D5DA9D0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0.5h × 月5回 × 12か月 × 100人 × 5,000円/h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378AD-F0B6-41A2-8F09-258B0306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2190A-77BB-4970-AF4E-EB564E34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既知障害・AI失敗の再発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8FD38-0177-4687-B300-CC0A568D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BE55"/>
                </a:solidFill>
              </a:defRPr>
            </a:pPr>
            <a:r>
              <a:rPr sz="2100" b="1">
                <a:solidFill>
                  <a:srgbClr val="F4BE55"/>
                </a:solidFill>
              </a:rPr>
              <a:t>300万円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DE833-6C24-4438-81E7-E6EC443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遭遇済みエラーをAIが再実装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原因調査・ロールバック・再レビュー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6460A-1908-4F62-A5AA-234B51EC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12件/年 × 50万円/件 × 50%回避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02E19-C52E-4A87-BE3D-8F9149E3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前提：平均人件費5,000円/h。失敗1件50万円は、開発・QA・緊急対応を含む試算例</a:t>
            </a:r>
          </a:p>
        </p:txBody>
      </p:sp>
    </p:spTree>
    <p:extLst>
      <p:ext uri="{BB962C8B-B14F-4D97-AF65-F5344CB8AC3E}">
        <p14:creationId xmlns:p14="http://schemas.microsoft.com/office/powerpoint/2010/main" val="16111821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6AFD0D-0708-4DBE-A426-C365B24E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72660-ECC1-4BB5-A00A-21B9A0F9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2C70B-5343-42B2-A562-919F3A61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効果を測る4つの実装ログ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33729-F0C5-4412-A8DB-0D1262C6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4FA44-1581-4781-9B59-0590DD1C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AA5C7-94AA-45F5-954B-15286618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81663-750F-4A19-B52E-B4D9DF91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4C74F-3419-4F47-A017-3CB7A8BE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検索ログ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89B77-5D96-4AC4-BDE8-C2344ED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retrieval_events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61056-0A54-4633-A53D-6192E998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ヒット率・fallback率・p95遅延・検索回数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30028-B08C-4B91-B127-7ECF949E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3C9C8-25F5-4367-AAF1-29330145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探し直しと検索性能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7DACB-0E4F-4353-802C-8B3A534A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668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63BDE-0EDC-4F77-8403-903DB485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メモリー影響ログ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47C5A-0237-4FBB-80AF-21EEA73F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memory_impact_events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04860-EBD0-4CE0-9077-B9DFEEC1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memory_used・avoided_lookup・参照Memory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DB8D3-184B-4103-BB27-7DB6012A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2185B-4991-466B-933A-10B8A277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再検索回避と記憶の寄与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098FB-2E9E-4508-9523-FDE68FAA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B25BE-7BEB-4621-A862-C5239DAA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比較計測ログ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4F477-65F3-4AB6-8F42-5908E654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measurement_variants / comparisons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7B7A3-81AE-4D6A-B8ED-6B3D0C01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control対treatmentのtoken・cost・duration・quality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5D4C3-1F38-41AB-B73B-EC82BC56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FBF85-D8B7-4A0C-A7AB-514F466D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トークン節約と完了効率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2B074-651D-49C3-AC7B-EB4C4251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1893A2-2B55-457A-9C7A-0CD1ED46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タスク・監査ログ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E70F2-A05D-430F-82B2-F283713B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tasks / audit_events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52E6E1-A377-41BB-94C0-05314AF9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完了時間・失敗・denied・権限外アクセス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6989FD-050E-4E52-BA27-4090B63D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0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A81776-7F47-4AC8-9C49-8EB9BF95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86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6D6A3"/>
                </a:solidFill>
              </a:defRPr>
            </a:pPr>
            <a:r>
              <a:rPr sz="1275" b="1">
                <a:solidFill>
                  <a:srgbClr val="56D6A3"/>
                </a:solidFill>
              </a:rPr>
              <a:t>業務成果と安全性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44C144-2505-458E-AD0B-DA13D991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59880E-63FC-4BDC-9B4C-DE27B68D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PoCでは導入前ベースラインと8週間後を比較し、検索時間・トークン・完了時間・権限違反を判定</a:t>
            </a:r>
          </a:p>
        </p:txBody>
      </p:sp>
    </p:spTree>
    <p:extLst>
      <p:ext uri="{BB962C8B-B14F-4D97-AF65-F5344CB8AC3E}">
        <p14:creationId xmlns:p14="http://schemas.microsoft.com/office/powerpoint/2010/main" val="11488992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C2C1E-D315-4E8C-83F8-1690247A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BADCB-464F-4657-B79E-DCE698A4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32010-C592-4786-9F94-A8FD24C8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課金単位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8F4A1-72A6-4197-8225-5AB790C6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D3A64-D540-4068-9320-4054DA3A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684AB-FC81-44EB-BD1D-FBB5293B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A27B5-F7EC-49D8-BD2C-882265E9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B4C7"/>
                </a:solidFill>
              </a:defRPr>
            </a:pPr>
            <a:r>
              <a:rPr sz="1650" b="1">
                <a:solidFill>
                  <a:srgbClr val="A8B4C7"/>
                </a:solidFill>
              </a:rPr>
              <a:t>一般的なSaaS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28CA1-1469-49FD-9CCA-DE809BD5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B019C-907D-4A18-B595-913FD0AD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000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51C"/>
          </a:solidFill>
          <a:ln xmlns:a="http://schemas.openxmlformats.org/drawingml/2006/main" w="9525">
            <a:solidFill>
              <a:srgbClr val="3B46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C8E26-5F45-4BE9-81A0-74885818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7EEF8"/>
                </a:solidFill>
              </a:defRPr>
            </a:pPr>
            <a:r>
              <a:rPr sz="2400" b="1">
                <a:solidFill>
                  <a:srgbClr val="E7EEF8"/>
                </a:solidFill>
              </a:rPr>
              <a:t>ユーザー数 × 単価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FBC84-1561-4165-B2C4-5D8C578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利用を広げるほどコストが増える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36FC8-C6E7-4D6D-91E4-49C4B408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3D3FF"/>
                </a:solidFill>
              </a:defRPr>
            </a:pPr>
            <a:r>
              <a:rPr sz="3150" b="1">
                <a:solidFill>
                  <a:srgbClr val="43D3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4EA06-103C-4861-8706-FCA95133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4000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C2333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29C3E-068E-442E-82C1-3DB5E7C3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43200"/>
            <a:ext cx="346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組織基本料 ＋ 利用範囲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93207-1557-4F6D-ADFD-B7AA15B5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718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全社員・全AIが利用可能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61062-1EB4-4AC3-9B5A-664AD931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4488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344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FD1B4-279E-437D-9BA4-DAF17340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全社利用による、記憶のつながりと1人当たり価値の拡大</a:t>
            </a:r>
          </a:p>
        </p:txBody>
      </p:sp>
    </p:spTree>
    <p:extLst>
      <p:ext uri="{BB962C8B-B14F-4D97-AF65-F5344CB8AC3E}">
        <p14:creationId xmlns:p14="http://schemas.microsoft.com/office/powerpoint/2010/main" val="2999297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1FEC2D-A84D-41AE-92B4-F9B36B33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8A667-5559-4687-8B07-C18029E4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10992-A410-4A0E-BC8A-E6E52E7E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4つのプランと基本料金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245C5-561F-4BAD-BDDC-875F2B4B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9B3E0-17E3-4826-AE5B-3193248C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75123-F70D-44B2-8E33-54CF4056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9C091-D4DE-4E3A-936A-96F44D9E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Organization単位の基本料金に、全社員・全AIの利用を包含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97AE0-3089-48A9-AB2D-7410DC6C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F7F95"/>
                </a:solidFill>
              </a:defRPr>
            </a:pPr>
            <a:r>
              <a:rPr sz="1575" b="1">
                <a:solidFill>
                  <a:srgbClr val="6F7F95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40CB9-2228-4B31-A125-1E58AF24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3〜5万円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5A56C-19B5-4565-8456-F5BDD41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8EF2E-DA81-4842-9377-9A269A56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小規模チーム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EA828-98B5-4018-85E6-875ABDC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共有メモリーを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小さく始める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E3CFD-63D6-4BCE-A594-B03A38B8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1AB10-E39B-4677-8994-1909496A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526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D3FF"/>
                </a:solidFill>
              </a:defRPr>
            </a:pPr>
            <a:r>
              <a:rPr sz="1575" b="1">
                <a:solidFill>
                  <a:srgbClr val="43D3FF"/>
                </a:solidFill>
              </a:rPr>
              <a:t>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1D073-2602-4960-823B-E938677D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9E8FF"/>
                </a:solidFill>
              </a:defRPr>
            </a:pPr>
            <a:r>
              <a:rPr sz="2700" b="1">
                <a:solidFill>
                  <a:srgbClr val="89E8FF"/>
                </a:solidFill>
              </a:rPr>
              <a:t>10〜20万円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B3A74-ADBB-499F-8099-01CDA184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26A29-7F7C-47E0-9E5B-83A6B411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複数部門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C16D7-53E8-44B7-9917-8B2AC30A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AdapterとDomainを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段階的に拡張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FC551-8996-439F-B5E9-8AB204EE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00200"/>
            <a:ext cx="2628900" cy="3524250"/>
          </a:xfrm>
          <a:prstGeom xmlns:a="http://schemas.openxmlformats.org/drawingml/2006/main" prst="roundRect">
            <a:avLst>
              <a:gd name="adj" fmla="val 57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2258F-C605-460A-9483-F6D0EA2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90ADC-DF58-404F-8AB9-64F5CD53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7F95"/>
                </a:solidFill>
              </a:defRPr>
            </a:pPr>
            <a:r>
              <a:rPr sz="1350" b="1">
                <a:solidFill>
                  <a:srgbClr val="6F7F95"/>
                </a:solidFill>
              </a:rPr>
              <a:t>ENTERPRISE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A2714-7CF9-4B0A-91A6-5D35AFB2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30〜50万円〜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6C497-C3FB-44C4-A7E1-DC87D294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6B773-B5BE-4521-B623-76E3DC11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全社利用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AE7A5-4A40-48BF-9212-88310A12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高度な権限・監査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SLAに対応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05541-38F5-4D79-8150-FB22405E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68AF5-09EF-4168-B047-0355552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526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F95"/>
                </a:solidFill>
              </a:defRPr>
            </a:pPr>
            <a:r>
              <a:rPr sz="1275" b="1">
                <a:solidFill>
                  <a:srgbClr val="6F7F95"/>
                </a:solidFill>
              </a:rPr>
              <a:t>ENTERPRISE PLUS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980DFB-07AE-42EA-8FF8-EE5DD252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100万円〜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B6FFFE-4199-49C2-9995-8C7FBE03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1B4EF0-7A51-48E2-8051-D348FD2E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グループ・専用環境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0B7944-78CC-473B-8B32-4BBD4EB4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個別要件と専用運用を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包括提供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8DD8EE-81B6-4039-80D0-C558A52D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価格は利用範囲・セキュリティ要件・運用形態に応じたイメージです。</a:t>
            </a:r>
          </a:p>
        </p:txBody>
      </p:sp>
    </p:spTree>
    <p:extLst>
      <p:ext uri="{BB962C8B-B14F-4D97-AF65-F5344CB8AC3E}">
        <p14:creationId xmlns:p14="http://schemas.microsoft.com/office/powerpoint/2010/main" val="1440255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637487-744A-4B75-89E8-2BE89875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52A3B-E56A-4152-BD32-C692BADD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D808C-182F-448D-A036-FD9D9B87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追加の従量課金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0D996-CB9E-4035-9FB0-D8005A7D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2B3D7-1C33-4406-8FB2-D90A0A50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27374-D082-47D4-B11B-096DE779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43C08-CC9D-473D-A9E1-5FEB4045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58485-7D9C-4F99-BAF4-4027E998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Organization基本料金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8FCCC-08EB-41FF-966B-189DE21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全社員・全AI / コア機能 / 基本メモリー容量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F1BD9-50BA-460C-9C09-83E729EF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B7E1C-9820-4DC9-A555-97EF2E0C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課金単位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A3C44-45CE-4CE5-A683-4A6CF233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価格案（税別）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89BD0-A411-4805-AE3A-E5B49AA7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DF9B5-4311-482C-9AF6-1166BDAD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45951-4D4C-4669-A7B9-EB16ECE6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1接続 / 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51A7A-6819-4623-9B0C-92115543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1万円〜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F10C7-C985-4AEA-AE9B-6B127DE3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Slack・Notion・GitHub・Salesforce・Teams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7AC8E-3266-4778-8FA2-8B56D0ED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1BB7B-238B-47F9-BE20-36567575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5C642-3304-4721-A60A-A33425E4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1領域 / 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2B4B1-C3A6-4276-A9C6-6A895D21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2万円〜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6B175-EFAC-4814-AB8F-1B73F94C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Engineering・Sales・Management Brain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93AB3-FACC-476C-8FB8-2F237582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03E60-A239-4F66-BA90-2D868B54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67DEE-AFC8-4A28-A0F0-CEFEE1FB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1,000処理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CE6994-FB13-41D5-94C4-029B3FB3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751E5B-0520-44C1-A077-42120CAC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矛盾検知・資料修正・統合・分析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CB5F23-DDD1-4518-AEB4-3F63E7B5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0D28DF-E3F5-4583-9F26-413397E3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GOVERNANCE / SECURITY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215606-89B5-4EE5-B65A-51CFD5F5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1組織 / 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0AB673-266E-4DF6-A85E-C1E121AD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10万円〜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783866-B0F8-443A-ABDC-2944A0D5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高度な権限・監査・SLA／専用環境は個別見積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F1D671-6508-4943-A338-33F0ECA6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FB3D41-EA7D-43B3-8518-C3673BA9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D7D5A3-D050-4A38-B4BF-3BA19C5A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10GB / 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C9DD60-B591-44C7-82D8-2B345A81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24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0FE54A-1EBB-4612-9818-1A1C9A7D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43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基本容量の超過分のみ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050CF0-1F90-40D8-AE47-0F138494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※価格案。契約条件・処理負荷・専用環境の要件により変動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6511208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065AB-7BDE-47E5-9A55-753222D0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40F9D-AFDD-4465-9916-A960ECA6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E8E78-F13D-41C5-89CB-574FB503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ライセンス形態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638FB-026B-4D71-AD8C-907D60B5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EAF97-74F3-4233-A3F8-E10ED9BB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DA95C-3695-494B-B9ED-3F1663AD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19400-DCA8-4E0B-B3BA-D760E303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24B43-48B3-4CA6-BE1B-FCA49D6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D8E25-0784-40C8-A6CE-020377DD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80721-A2EC-42F3-ACC2-0D8F2D21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EA166-9F7A-4BE2-B3A7-66AECCDA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個人・プロジェクトで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まず試す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F00A1-40F6-4B37-A96E-FBB8F854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4F744-3DD6-4946-A7EE-083F9520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SELF-HOSTED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6723B-60BC-40C2-95F1-3848206F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406F2-881E-4AA3-B728-F16D2AE3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Cloudflare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C2F97-3307-4FC6-B345-9FA4709A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自社運用で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データを保持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C83DF-F16E-428A-83B7-D4FF33A1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59AE0-1519-49C1-B069-A8FABAF2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MANAGED 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CE456-4697-4063-9E15-D61AA45D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Team → Enterprise Plus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1B819-FB78-4803-86CE-FDB09131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Managed OrgBrain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DC423-8898-4FBC-9A0E-ED8136E7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インフラ保守なしで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全社展開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3FD33-FDC8-4DF6-AEDA-AD8C76AE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Local-firstから、共有・統制・運用支援まで段階的に拡張</a:t>
            </a:r>
          </a:p>
        </p:txBody>
      </p:sp>
    </p:spTree>
    <p:extLst>
      <p:ext uri="{BB962C8B-B14F-4D97-AF65-F5344CB8AC3E}">
        <p14:creationId xmlns:p14="http://schemas.microsoft.com/office/powerpoint/2010/main" val="9013326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0222E-CCEE-47B5-8BF5-396007CF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1482D-E5FD-470D-BC76-67114A97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DF1A6-B055-4410-98B3-9B11492B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PoCのご提案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A19C7-C20A-4246-95B9-D42DA5A9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3093F-2925-493C-89EF-38CCEF33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BCDE0-B973-438A-A0A3-69A32DF7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6C456-3BEA-4D5D-928E-8D0C4991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1チーム・8週間で、継続判断に必要なROIとリスクを可視化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57B89-2CF6-478B-8325-84DBA477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7D82A-188B-4A55-A7D5-EE55FEF0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175FC-8BE9-470B-9E67-5154FFD9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0-2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9ED32-746A-4F31-AE38-2F945597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ベースライン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B7DDC-7689-424F-81A8-1E47AD31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検索時間・手戻り・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AIコストを計測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8D8D1-3EC4-4A72-8DDE-0BDBA173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72CDD-E3F1-4282-B95D-A8304395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3-6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3B419-3DE1-4B84-B32A-D6804168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運用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7A3F5-4692-43C6-9CC0-80B0E1B8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1〜2 Adapterを接続し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実業務で利用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C0E61-F215-44CC-ABE5-B38BEE99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5FCBA-44CD-444A-AA5E-F0E7B755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WEEK 7-8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13827-B598-40EF-8853-5C433962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評価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4C816-23E7-4B35-892A-9EBAEA86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KPI・ROI・安全性を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共同レビュー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235D4-D7E3-4724-AE3D-2E68EF1D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FD053-2657-4F36-9013-5AD9C97D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578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SlackまたはGitHubを接続し、“探し直し”の削減量を実測</a:t>
            </a:r>
          </a:p>
        </p:txBody>
      </p:sp>
    </p:spTree>
    <p:extLst>
      <p:ext uri="{BB962C8B-B14F-4D97-AF65-F5344CB8AC3E}">
        <p14:creationId xmlns:p14="http://schemas.microsoft.com/office/powerpoint/2010/main" val="18058504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8A0CF-7B8D-44AB-82B7-17257249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B5EAE-A3B0-48D9-BA67-8A179D5E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68B8F-D45F-48F5-B6D5-B4994E1B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お問い合わせ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D8DF8-62D6-45C0-9160-176C2E78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AB085-9B06-4A75-8CFD-BA206392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D0E73-8B59-46F6-A63E-CE2B7B9F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F9CB9-A182-47F2-948C-8FCB1A17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9E8FF"/>
                </a:solidFill>
              </a:defRPr>
            </a:pPr>
            <a:r>
              <a:rPr sz="22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7AB8E-091E-4042-BE38-3541B6E5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AC9B7-1856-4E45-8C16-C772EB08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AFC"/>
                </a:solidFill>
              </a:defRPr>
            </a:pPr>
            <a:r>
              <a:rPr sz="36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73554-741D-4E04-8F19-8754B30C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導入相談　/　PoC設計　/　Enterprise見積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63128-26A3-49B7-9D86-EF2A1295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67437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0CFC8-93BE-4401-96B3-264F02C7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github.com/miyajima/org-brain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CCE5B-2AA4-4AA6-B3E1-7326C66A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9E8FF"/>
                </a:solidFill>
              </a:defRPr>
            </a:pPr>
            <a:r>
              <a:rPr sz="1950" b="1">
                <a:solidFill>
                  <a:srgbClr val="89E8FF"/>
                </a:solidFill>
              </a:rPr>
              <a:t>AIが動くたび、組織が学ぶ</a:t>
            </a:r>
          </a:p>
        </p:txBody>
      </p:sp>
    </p:spTree>
    <p:extLst>
      <p:ext uri="{BB962C8B-B14F-4D97-AF65-F5344CB8AC3E}">
        <p14:creationId xmlns:p14="http://schemas.microsoft.com/office/powerpoint/2010/main" val="421433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2026-08-07T09:50:12.7410000Z</dcterms:created>
  <dcterms:modified xsi:type="dcterms:W3CDTF">2026-08-07T09:50:12.7410000Z</dcterms:modified>
</coreProperties>
</file>