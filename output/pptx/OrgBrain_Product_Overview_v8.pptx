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f4d728be254206" /><Relationship Type="http://schemas.openxmlformats.org/officeDocument/2006/relationships/extended-properties" Target="/docProps/app.xml" Id="Rf3cd3e2a046841b0" /><Relationship Type="http://schemas.openxmlformats.org/officeDocument/2006/relationships/officeDocument" Target="/ppt/presentation.xml" Id="R4d65433e6b8942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97c8023cc144ae"/>
  </p:sldMasterIdLst>
  <p:notesMasterIdLst>
    <p:notesMasterId xmlns:r="http://schemas.openxmlformats.org/officeDocument/2006/relationships" r:id="Rec5402d4568343fa"/>
  </p:notesMasterIdLst>
  <p:sldIdLst>
    <p:sldId xmlns:r="http://schemas.openxmlformats.org/officeDocument/2006/relationships" id="256" r:id="R7cba17601e384e2e"/>
    <p:sldId xmlns:r="http://schemas.openxmlformats.org/officeDocument/2006/relationships" id="257" r:id="Rceaa477ab876405d"/>
    <p:sldId xmlns:r="http://schemas.openxmlformats.org/officeDocument/2006/relationships" id="258" r:id="R2a084de8805d403d"/>
    <p:sldId xmlns:r="http://schemas.openxmlformats.org/officeDocument/2006/relationships" id="259" r:id="R09b6f93ddd174b8a"/>
    <p:sldId xmlns:r="http://schemas.openxmlformats.org/officeDocument/2006/relationships" id="260" r:id="Re83fd5bcc01a458f"/>
    <p:sldId xmlns:r="http://schemas.openxmlformats.org/officeDocument/2006/relationships" id="261" r:id="R7693052f4bf34f94"/>
    <p:sldId xmlns:r="http://schemas.openxmlformats.org/officeDocument/2006/relationships" id="262" r:id="R1b8321ccd97b4b9e"/>
    <p:sldId xmlns:r="http://schemas.openxmlformats.org/officeDocument/2006/relationships" id="263" r:id="R52ab72a620884e2e"/>
    <p:sldId xmlns:r="http://schemas.openxmlformats.org/officeDocument/2006/relationships" id="264" r:id="R83b2bd3b138a4d96"/>
    <p:sldId xmlns:r="http://schemas.openxmlformats.org/officeDocument/2006/relationships" id="265" r:id="R6c2c211b744143eb"/>
    <p:sldId xmlns:r="http://schemas.openxmlformats.org/officeDocument/2006/relationships" id="266" r:id="R8b1ad003fe914629"/>
    <p:sldId xmlns:r="http://schemas.openxmlformats.org/officeDocument/2006/relationships" id="267" r:id="Rde6aad9cc54c4eda"/>
    <p:sldId xmlns:r="http://schemas.openxmlformats.org/officeDocument/2006/relationships" id="268" r:id="Rc9c1e9977be34354"/>
    <p:sldId xmlns:r="http://schemas.openxmlformats.org/officeDocument/2006/relationships" id="269" r:id="R027204700c7348f4"/>
    <p:sldId xmlns:r="http://schemas.openxmlformats.org/officeDocument/2006/relationships" id="270" r:id="R271b15dba1a3434a"/>
    <p:sldId xmlns:r="http://schemas.openxmlformats.org/officeDocument/2006/relationships" id="271" r:id="R6ad9d1013a794845"/>
    <p:sldId xmlns:r="http://schemas.openxmlformats.org/officeDocument/2006/relationships" id="272" r:id="R1b514e78044d40fb"/>
    <p:sldId xmlns:r="http://schemas.openxmlformats.org/officeDocument/2006/relationships" id="273" r:id="R99712040469949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f63790dce74fe4" /><Relationship Type="http://schemas.openxmlformats.org/officeDocument/2006/relationships/slideMaster" Target="/ppt/slideMasters/slideMaster1.xml" Id="R9197c8023cc144ae" /><Relationship Type="http://schemas.openxmlformats.org/officeDocument/2006/relationships/notesMaster" Target="/ppt/notesMasters/notesMaster1.xml" Id="Rec5402d4568343fa" /><Relationship Type="http://schemas.openxmlformats.org/officeDocument/2006/relationships/presProps" Target="/ppt/presProps.xml" Id="R678639f3b9b74343" /><Relationship Type="http://schemas.openxmlformats.org/officeDocument/2006/relationships/tableStyles" Target="/ppt/tableStyles.xml" Id="R8b24dd0996b9418e" /><Relationship Type="http://schemas.openxmlformats.org/officeDocument/2006/relationships/slide" Target="/ppt/slides/slide1.xml" Id="R7cba17601e384e2e" /><Relationship Type="http://schemas.openxmlformats.org/officeDocument/2006/relationships/slide" Target="/ppt/slides/slide2.xml" Id="Rceaa477ab876405d" /><Relationship Type="http://schemas.openxmlformats.org/officeDocument/2006/relationships/slide" Target="/ppt/slides/slide3.xml" Id="R2a084de8805d403d" /><Relationship Type="http://schemas.openxmlformats.org/officeDocument/2006/relationships/slide" Target="/ppt/slides/slide4.xml" Id="R09b6f93ddd174b8a" /><Relationship Type="http://schemas.openxmlformats.org/officeDocument/2006/relationships/slide" Target="/ppt/slides/slide5.xml" Id="Re83fd5bcc01a458f" /><Relationship Type="http://schemas.openxmlformats.org/officeDocument/2006/relationships/slide" Target="/ppt/slides/slide6.xml" Id="R7693052f4bf34f94" /><Relationship Type="http://schemas.openxmlformats.org/officeDocument/2006/relationships/slide" Target="/ppt/slides/slide7.xml" Id="R1b8321ccd97b4b9e" /><Relationship Type="http://schemas.openxmlformats.org/officeDocument/2006/relationships/slide" Target="/ppt/slides/slide8.xml" Id="R52ab72a620884e2e" /><Relationship Type="http://schemas.openxmlformats.org/officeDocument/2006/relationships/slide" Target="/ppt/slides/slide9.xml" Id="R83b2bd3b138a4d96" /><Relationship Type="http://schemas.openxmlformats.org/officeDocument/2006/relationships/slide" Target="/ppt/slides/slide10.xml" Id="R6c2c211b744143eb" /><Relationship Type="http://schemas.openxmlformats.org/officeDocument/2006/relationships/slide" Target="/ppt/slides/slide11.xml" Id="R8b1ad003fe914629" /><Relationship Type="http://schemas.openxmlformats.org/officeDocument/2006/relationships/slide" Target="/ppt/slides/slide12.xml" Id="Rde6aad9cc54c4eda" /><Relationship Type="http://schemas.openxmlformats.org/officeDocument/2006/relationships/slide" Target="/ppt/slides/slide13.xml" Id="Rc9c1e9977be34354" /><Relationship Type="http://schemas.openxmlformats.org/officeDocument/2006/relationships/slide" Target="/ppt/slides/slide14.xml" Id="R027204700c7348f4" /><Relationship Type="http://schemas.openxmlformats.org/officeDocument/2006/relationships/slide" Target="/ppt/slides/slide15.xml" Id="R271b15dba1a3434a" /><Relationship Type="http://schemas.openxmlformats.org/officeDocument/2006/relationships/slide" Target="/ppt/slides/slide16.xml" Id="R6ad9d1013a794845" /><Relationship Type="http://schemas.openxmlformats.org/officeDocument/2006/relationships/slide" Target="/ppt/slides/slide17.xml" Id="R1b514e78044d40fb" /><Relationship Type="http://schemas.openxmlformats.org/officeDocument/2006/relationships/slide" Target="/ppt/slides/slide18.xml" Id="R99712040469949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a288aaec5843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08e8d92ad94d72" /><Relationship Type="http://schemas.openxmlformats.org/officeDocument/2006/relationships/notesMaster" Target="/ppt/notesMasters/notesMaster1.xml" Id="Rcd313ebc7e2d46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884bc6ab184181" /><Relationship Type="http://schemas.openxmlformats.org/officeDocument/2006/relationships/notesMaster" Target="/ppt/notesMasters/notesMaster1.xml" Id="R40bea778d35544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6a0ab49f064b17" /><Relationship Type="http://schemas.openxmlformats.org/officeDocument/2006/relationships/notesMaster" Target="/ppt/notesMasters/notesMaster1.xml" Id="Rcd7c042944e044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737c911c534d59" /><Relationship Type="http://schemas.openxmlformats.org/officeDocument/2006/relationships/notesMaster" Target="/ppt/notesMasters/notesMaster1.xml" Id="R9a375fc440fc4e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2c05f3f427446e" /><Relationship Type="http://schemas.openxmlformats.org/officeDocument/2006/relationships/notesMaster" Target="/ppt/notesMasters/notesMaster1.xml" Id="R4956cfdce0244a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8f2ef0d2c34a52" /><Relationship Type="http://schemas.openxmlformats.org/officeDocument/2006/relationships/notesMaster" Target="/ppt/notesMasters/notesMaster1.xml" Id="R1728a173201849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b1e391a88a4f8c" /><Relationship Type="http://schemas.openxmlformats.org/officeDocument/2006/relationships/notesMaster" Target="/ppt/notesMasters/notesMaster1.xml" Id="Rc1917cdcb1224a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b54cdb41c147c2" /><Relationship Type="http://schemas.openxmlformats.org/officeDocument/2006/relationships/notesMaster" Target="/ppt/notesMasters/notesMaster1.xml" Id="Ra0649febfd194d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8adecb6a384e6f" /><Relationship Type="http://schemas.openxmlformats.org/officeDocument/2006/relationships/notesMaster" Target="/ppt/notesMasters/notesMaster1.xml" Id="Rc0524b44e19747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3c0bb7ca0e43d1" /><Relationship Type="http://schemas.openxmlformats.org/officeDocument/2006/relationships/notesMaster" Target="/ppt/notesMasters/notesMaster1.xml" Id="R9221847c56cc4c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3df299068f4b40" /><Relationship Type="http://schemas.openxmlformats.org/officeDocument/2006/relationships/notesMaster" Target="/ppt/notesMasters/notesMaster1.xml" Id="R515434ebecbf41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f28b6986954fbf" /><Relationship Type="http://schemas.openxmlformats.org/officeDocument/2006/relationships/notesMaster" Target="/ppt/notesMasters/notesMaster1.xml" Id="Rfd4e6677f0d841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dc755094fa44c6" /><Relationship Type="http://schemas.openxmlformats.org/officeDocument/2006/relationships/notesMaster" Target="/ppt/notesMasters/notesMaster1.xml" Id="R6e0e618f8d6f49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35bb128d144672" /><Relationship Type="http://schemas.openxmlformats.org/officeDocument/2006/relationships/notesMaster" Target="/ppt/notesMasters/notesMaster1.xml" Id="R784b1d403238431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1b30d51aa04e72" /><Relationship Type="http://schemas.openxmlformats.org/officeDocument/2006/relationships/notesMaster" Target="/ppt/notesMasters/notesMaster1.xml" Id="R22df1e0a005849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40d1f58633401a" /><Relationship Type="http://schemas.openxmlformats.org/officeDocument/2006/relationships/notesMaster" Target="/ppt/notesMasters/notesMaster1.xml" Id="Rc1dec1388ce44b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15c2c530074acb" /><Relationship Type="http://schemas.openxmlformats.org/officeDocument/2006/relationships/notesMaster" Target="/ppt/notesMasters/notesMaster1.xml" Id="Rca7c42ba27b344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e1c2f6d5dd4eb6" /><Relationship Type="http://schemas.openxmlformats.org/officeDocument/2006/relationships/notesMaster" Target="/ppt/notesMasters/notesMaster1.xml" Id="Rba13ccf188ea4f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accessed 2026-08-07.</a:t>
            </a:r>
          </a:p>
          <a:p xmlns:a="http://schemas.openxmlformats.org/drawingml/2006/main">
            <a:r>
              <a:t>- Generated visual: OpenAI Image Generation, organizational-memory-hero.png,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Summary of the product positioning, value model, pricing concept, and PoC proposal in this deck.</a:t>
            </a:r>
          </a:p>
          <a:p xmlns:a="http://schemas.openxmlformats.org/drawingml/2006/main">
            <a:r>
              <a:t>- Financial impact is an illustrative opportunity model,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sections The Problem and What OrgBrain Does, accessed 2026-08-07.</a:t>
            </a:r>
          </a:p>
          <a:p xmlns:a="http://schemas.openxmlformats.org/drawingml/2006/main">
            <a:r>
              <a:t>- packages/shared/src/memory-lifecycle-types.ts and apps/api-gateway/src/context-engine-service.ts.</a:t>
            </a:r>
          </a:p>
          <a:p xmlns:a="http://schemas.openxmlformats.org/drawingml/2006/main">
            <a:r>
              <a:t>- The AI answer is an illustrative output example,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3.</a:t>
            </a:r>
          </a:p>
          <a:p xmlns:a="http://schemas.openxmlformats.org/drawingml/2006/main">
            <a:r>
              <a:t>- Generated visual: OpenAI Image Generation, organizational-memory-loss-v2.png,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scenario based on the user-provided product concept;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Shared memory loop: Capture, Distill, Connect, Recall,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packages/shared/src/memory-lifecycle-types.ts: MEMORY_KINDS, MEMORY_LIFECYCLE_STATES, MEMORY_SCOPES.</a:t>
            </a:r>
          </a:p>
          <a:p xmlns:a="http://schemas.openxmlformats.org/drawingml/2006/main">
            <a:r>
              <a:t>- apps/api-gateway/src/context-engine-service.ts: decision memory rationale, alternatives, constraints, source refs, versions, validity.</a:t>
            </a:r>
          </a:p>
          <a:p xmlns:a="http://schemas.openxmlformats.org/drawingml/2006/main">
            <a:r>
              <a:t>- The former four drawers came from the user-provided OrgBrain_AI_Memory.pdf and were not a formal implementation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decision-memory example derived from the user-provided product positioning;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artifacts/benchmarks/2026-07-31/competitive-memory-reduced3-orgbrain-v4-fixed-repeat5.json.</a:t>
            </a:r>
          </a:p>
          <a:p xmlns:a="http://schemas.openxmlformats.org/drawingml/2006/main">
            <a:r>
              <a:t>- artifacts/benchmarks/2026-07-31/competitive-memory-reduced3-local-repeat5.json.</a:t>
            </a:r>
          </a:p>
          <a:p xmlns:a="http://schemas.openxmlformats.org/drawingml/2006/main">
            <a:r>
              <a:t>- artifacts/benchmarks/2026-07-31/competitive-memory-reduced3-hindsight-repeat1.json.</a:t>
            </a:r>
          </a:p>
          <a:p xmlns:a="http://schemas.openxmlformats.org/drawingml/2006/main">
            <a:r>
              <a:t>- Hindsight Pass^5 is omitted because its available result is repeat1. Mnemosyne latency is omitted because it was faster than OrgBrain.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 8. Figures are presented as illustrative estimates, not reported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this as an opportunity model, not a guaranteed result. Confirm the customer's volumes and adoption assumptions before using it as an ROI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OrgBrain_AI_Memory.pdf, slides 6-7.</a:t>
            </a:r>
          </a:p>
          <a:p xmlns:a="http://schemas.openxmlformats.org/drawingml/2006/main">
            <a:r>
              <a:t>- Updated illustrative recurrence scenario: 12 repeated incidents per year × JPY500,000 impact per incident × 50% avoided = JPY3,000,000.</a:t>
            </a:r>
          </a:p>
          <a:p xmlns:a="http://schemas.openxmlformats.org/drawingml/2006/main">
            <a:r>
              <a:t>- The incident impact represents developer investigation, rollback, QA, review, and urgent response; it is not a reported customer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apps/cap-runner/src/retrieval-metrics.ts and migrations/0004_retrieval_metrics.sql.</a:t>
            </a:r>
          </a:p>
          <a:p xmlns:a="http://schemas.openxmlformats.org/drawingml/2006/main">
            <a:r>
              <a:t>- apps/api-gateway/src/memory-impact-service.ts and migrations/0018_memory_impact.sql.</a:t>
            </a:r>
          </a:p>
          <a:p xmlns:a="http://schemas.openxmlformats.org/drawingml/2006/main">
            <a:r>
              <a:t>- apps/cap-runner/src/index.ts: measurement_variants and measurement_comparisons writes.</a:t>
            </a:r>
          </a:p>
          <a:p xmlns:a="http://schemas.openxmlformats.org/drawingml/2006/main">
            <a:r>
              <a:t>- apps/api-gateway/src/operations-service.ts and migrations/0015_rbac_audit.sql.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pricing philosophy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plan names and price images in the Codex task, 2026-08-07. Plan positioning is an illustrative packaging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billing components in the Codex task, 2026-08-07.</a:t>
            </a:r>
          </a:p>
          <a:p xmlns:a="http://schemas.openxmlformats.org/drawingml/2006/main">
            <a:r>
              <a:t>- Unit prices are an illustrative packaging proposal added for this revision; they are not approved or published prices.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README in the local repository, Choose Your Mode section, accessed 2026-08-07.</a:t>
            </a:r>
          </a:p>
          <a:p xmlns:a="http://schemas.openxmlformats.org/drawingml/2006/main">
            <a:r>
              <a:t>- User-provided managed plan concept in the Codex task,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Illustrative PoC approach proposed for this deck; schedule and targets should be tailored to the customer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OrgBrain repository: https://github.com/miyajima/org-brain, accessed 2026-08-07.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6f3c2a8d64c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d8f974004942d9" /><Relationship Type="http://schemas.openxmlformats.org/officeDocument/2006/relationships/slideLayout" Target="/ppt/slideLayouts/slideLayout1.xml" Id="Rb47da950433641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7da950433641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499ecfc3b4aea" /><Relationship Type="http://schemas.openxmlformats.org/officeDocument/2006/relationships/image" Target="/ppt/media/image.png" Id="R161321f126e8423e" /><Relationship Type="http://schemas.openxmlformats.org/officeDocument/2006/relationships/notesSlide" Target="/ppt/notesSlides/notesSlide1.xml" Id="R6bf125722c1045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f67651a864abc" /><Relationship Type="http://schemas.openxmlformats.org/officeDocument/2006/relationships/notesSlide" Target="/ppt/notesSlides/notesSlide2.xml" Id="Rc351277fb57e44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f9fc5fa234dde" /><Relationship Type="http://schemas.openxmlformats.org/officeDocument/2006/relationships/notesSlide" Target="/ppt/notesSlides/notesSlide3.xml" Id="Rf7cde2c0d4734a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e7408a1e2434c" /><Relationship Type="http://schemas.openxmlformats.org/officeDocument/2006/relationships/image" Target="/ppt/media/image2.png" Id="R349a06b4314b4376" /><Relationship Type="http://schemas.openxmlformats.org/officeDocument/2006/relationships/notesSlide" Target="/ppt/notesSlides/notesSlide4.xml" Id="R97a466d946a045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b6777eed44543" /><Relationship Type="http://schemas.openxmlformats.org/officeDocument/2006/relationships/notesSlide" Target="/ppt/notesSlides/notesSlide5.xml" Id="R4e173923a1864d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e659060c241fc" /><Relationship Type="http://schemas.openxmlformats.org/officeDocument/2006/relationships/notesSlide" Target="/ppt/notesSlides/notesSlide6.xml" Id="R7fbd742d13a44a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c7062a95048d1" /><Relationship Type="http://schemas.openxmlformats.org/officeDocument/2006/relationships/notesSlide" Target="/ppt/notesSlides/notesSlide7.xml" Id="R63a1b0e7f29948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ac2a695044099" /><Relationship Type="http://schemas.openxmlformats.org/officeDocument/2006/relationships/notesSlide" Target="/ppt/notesSlides/notesSlide8.xml" Id="R2a236f9676c148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f38da46a94a12" /><Relationship Type="http://schemas.openxmlformats.org/officeDocument/2006/relationships/notesSlide" Target="/ppt/notesSlides/notesSlide9.xml" Id="R60cf605ad3954d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917ec0a5d4740" /><Relationship Type="http://schemas.openxmlformats.org/officeDocument/2006/relationships/notesSlide" Target="/ppt/notesSlides/notesSlide10.xml" Id="R27af4e555f7d45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998e54835490f" /><Relationship Type="http://schemas.openxmlformats.org/officeDocument/2006/relationships/notesSlide" Target="/ppt/notesSlides/notesSlide11.xml" Id="R809b51e2554f4b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20ea2eae84c5f" /><Relationship Type="http://schemas.openxmlformats.org/officeDocument/2006/relationships/notesSlide" Target="/ppt/notesSlides/notesSlide12.xml" Id="Re085c8e370fb47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957316b9b404f" /><Relationship Type="http://schemas.openxmlformats.org/officeDocument/2006/relationships/notesSlide" Target="/ppt/notesSlides/notesSlide13.xml" Id="Rc61b2702b34e4c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46c5b23b94eee" /><Relationship Type="http://schemas.openxmlformats.org/officeDocument/2006/relationships/notesSlide" Target="/ppt/notesSlides/notesSlide14.xml" Id="R6e0a27cf13d24e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a15f6d9274f9e" /><Relationship Type="http://schemas.openxmlformats.org/officeDocument/2006/relationships/notesSlide" Target="/ppt/notesSlides/notesSlide15.xml" Id="R2fbb3d167c424d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ea109531147a7" /><Relationship Type="http://schemas.openxmlformats.org/officeDocument/2006/relationships/notesSlide" Target="/ppt/notesSlides/notesSlide16.xml" Id="R075a647cb69942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fe63bb69f4fe9" /><Relationship Type="http://schemas.openxmlformats.org/officeDocument/2006/relationships/notesSlide" Target="/ppt/notesSlides/notesSlide17.xml" Id="Ra125691d0b4f49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1a45814364954" /><Relationship Type="http://schemas.openxmlformats.org/officeDocument/2006/relationships/notesSlide" Target="/ppt/notesSlides/notesSlide18.xml" Id="R168ba4c6c9ac41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321f126e8423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631F8-EAF8-43FF-B730-68CF9095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A338D-5273-4658-946E-A2DF7058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3D3FF"/>
                </a:solidFill>
              </a:defRPr>
            </a:pPr>
            <a:r>
              <a:rPr sz="105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3EFC4-2B64-43FD-8BAD-90DE90E8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AIが動くたび、</a:t>
            </a:r>
          </a:p>
          <a:p xmlns:a="http://schemas.openxmlformats.org/drawingml/2006/main">
            <a:pPr algn="l">
              <a:defRPr sz="4350" b="1">
                <a:solidFill>
                  <a:srgbClr val="F7FAFC"/>
                </a:solidFill>
              </a:defRPr>
            </a:pPr>
            <a:r>
              <a:rPr sz="4350" b="1">
                <a:solidFill>
                  <a:srgbClr val="F7FAFC"/>
                </a:solidFill>
              </a:rPr>
              <a:t>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C2431-B6DB-4749-9BD9-1B2A7361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判断の背景を、次のAI実行が使える組織知へ</a:t>
            </a:r>
          </a:p>
          <a:p xmlns:a="http://schemas.openxmlformats.org/drawingml/2006/main">
            <a:pPr algn="l">
              <a:defRPr sz="1650" b="0">
                <a:solidFill>
                  <a:srgbClr val="E7EEF8"/>
                </a:solidFill>
              </a:defRPr>
            </a:pPr>
            <a:r>
              <a:rPr sz="1650" b="0">
                <a:solidFill>
                  <a:srgbClr val="E7EEF8"/>
                </a:solidFill>
              </a:rPr>
              <a:t>理由・制約・結果を残し、同じ失敗を繰り返さない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CE74D-40AD-42D1-A7B5-B95D50CC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D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1BAA3-621F-47D4-83A4-C299FA0A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6FC38-C697-4170-B442-4AE369FC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OrgBrain</a:t>
            </a:r>
          </a:p>
        </p:txBody>
      </p:sp>
    </p:spTree>
    <p:extLst>
      <p:ext uri="{BB962C8B-B14F-4D97-AF65-F5344CB8AC3E}">
        <p14:creationId xmlns:p14="http://schemas.microsoft.com/office/powerpoint/2010/main" val="3916187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4C6F0-F019-4498-B4C4-7088EF8A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547F9-275E-4493-9E9F-564C6257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13391-FD33-4312-BD25-51B04B66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エグゼクティブサマリー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8D89D-99A8-4AB7-A2E7-8410E17F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EE11B-EA50-4548-985D-76DDA086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59EC5-DBF9-40C5-96F6-393C0803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C136E-59C4-4792-BDFA-CB506083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9E8FF"/>
                </a:solidFill>
              </a:defRPr>
            </a:pPr>
            <a:r>
              <a:rPr sz="2325" b="1">
                <a:solidFill>
                  <a:srgbClr val="89E8FF"/>
                </a:solidFill>
              </a:rPr>
              <a:t>「これって、なんでこうしたんだっけ？」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2588D-A90F-4876-845D-6F1666A8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会議が止まり、Slackや資料を探し、最後は「あの人に聞こう」となる。この日常会話は、判断理由や失敗の教訓が、組織ではなく担当者の記憶に残っているサインです。AIを導入しても過去の背景を知らなければ、人と同じように毎回ゼロから調べ、同じ議論や失敗を繰り返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310E0-40B3-48E3-939A-B4468865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OrgBrainは、日々のAI実行から理由・制約・却下案・結果を自動で組織メモリー化し、次のAI実行に必要な文脈を想起させます。追加の記録作業を増やすことなく、AIを使うたびに個々の実行が組織全体の学びへ変わり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A5834-77D3-4824-B0A4-5D28B2B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8204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B2B023-B64E-415E-A5FA-CA904843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1024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100人組織では、探し直しや記録・引き継ぎなど、年間約3,000万円・6,000時間の改善余地が見込めます。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5ABB3D-FD6B-4871-B473-02619B50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まずは1チーム・8週間のPoCで「なんでこうしたんだっけ？」に費やす時間と手戻りを実測し、全社導入をご検討ください。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D6B24-A3E7-4605-B4D7-8E119BAA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※効果は本資料の前提に基づく試算。実際の効果は利用状況により変動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14485142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B3F13A-0DA7-4BB8-8DA0-08BB3BE1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93BC4-4AA1-4FE1-8AA5-B15A3FF6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6E49E-9A86-496D-9BB1-858436F7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「これって、なんでこうしたんだっけ？」をなくす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06772-FB13-4BEE-B65D-08DB1A3B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646F5-4780-4CFF-B13E-6F7A0266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34C59-B5BF-4714-B5D3-1C174A16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B53139-7C00-4608-A916-216C023F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現状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06F95-982A-4455-BCD3-9A8A41A2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90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EDB2B-10D1-4EE6-A047-8D914778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225CD-8F1C-4B6C-B729-0E5ED3C9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E0A0"/>
                </a:solidFill>
              </a:defRPr>
            </a:pPr>
            <a:r>
              <a:rPr sz="2025" b="1">
                <a:solidFill>
                  <a:srgbClr val="FFE0A0"/>
                </a:solidFill>
              </a:rPr>
              <a:t>理由が、会話・ログ・人に散在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1272C-6142-45BA-A56A-28D78985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判断した瞬間に、理由ごと記憶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FE2F7-6094-4535-A9C3-0F882387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BFAB6-0F77-4AEE-B451-25C69353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横断検索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B74CA-F213-41E8-A736-6193A21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Slack・Issue・議事録を探す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CDD27-AF8C-4878-8140-048BD363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F363F-5E16-4939-98D2-49573085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背景を再推論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DF5E6-C34C-4E86-830E-8BA87D60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90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断片から『なぜ』を推測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514DA-A008-4D32-AC55-E8CDADDB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BE55"/>
                </a:solidFill>
              </a:defRPr>
            </a:pPr>
            <a:r>
              <a:rPr sz="135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F4FF8-2B7C-470B-AEFB-2EB5C3A8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957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人に確認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A5422-7FDC-4C6F-97D9-EA71FE11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担当者不在なら答えが消失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34D65-BCCB-4A2D-9C48-0587CB56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E0A0"/>
                </a:solidFill>
              </a:defRPr>
            </a:pPr>
            <a:r>
              <a:rPr sz="1500" b="1">
                <a:solidFill>
                  <a:srgbClr val="FFE0A0"/>
                </a:solidFill>
              </a:rPr>
              <a:t>人もAIも、毎回ゼロから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045D9A-185C-471A-972C-CE6D6E21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0680A3-414C-44C7-8245-B834727F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718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CE0743-8649-4817-A9C6-2C5E784A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0B02C3-D596-4F18-8044-C4184A80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1  記録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54E50C-B4BA-41E6-A555-DACBAF15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Slack・GitHub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2B1520-29B2-49F9-A3FD-F228C427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20B337-1021-406B-99FE-87F73DFD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2  構造化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6950C-6BD0-4755-9A41-1BE59581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理由・制約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却下案・出典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FC1AA9-655C-42C5-9B47-84C6204C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24100"/>
            <a:ext cx="152400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D21563-0536-4ADA-9494-C7D9803D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3  想起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934822-4303-4D99-9783-E034D881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956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権限に合う</a:t>
            </a:r>
          </a:p>
          <a:p xmlns:a="http://schemas.openxmlformats.org/drawingml/2006/main">
            <a:pPr algn="ctr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記憶を検索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C20F9F-3AAD-4EAD-A0B5-02370601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86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次のAI実行で、根拠付き回答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AEC2D2-43EE-4FA8-A06F-6304BAED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5C6FA0-365E-47F0-A95B-13D1F7A7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AIへの質問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482828-9AD0-47BB-81EA-4DD27067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なぜA社だけ例外仕様？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437BA1-86D0-44A8-BE28-8B4D9EC6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0" cy="74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B9EBC9-60F2-478A-8B8D-03CE2A2D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81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根拠付きの出力例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29714C-8977-4FE3-A3A5-7761A070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292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SAML要件の期限が理由。全顧客同時リリースは納期超過で却下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2C1752-01F1-41F7-A129-A4836FC6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531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</p:spTree>
    <p:extLst>
      <p:ext uri="{BB962C8B-B14F-4D97-AF65-F5344CB8AC3E}">
        <p14:creationId xmlns:p14="http://schemas.microsoft.com/office/powerpoint/2010/main" val="186849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a06b4314b437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29342-88DC-40A8-9D1E-5E2F5829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0D">
              <a:alpha val="8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D74FB-579A-4F94-A7BD-365A369A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D55FF-E290-466F-813D-101D55E5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0C00A-4225-40FE-9D6C-C36AAF16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人が辞めるたび、組織は記憶をなくす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F097F-1616-4BE4-9C20-947544FF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192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8B4C7"/>
                </a:solidFill>
              </a:defRPr>
            </a:pPr>
            <a:r>
              <a:rPr sz="1500" b="0">
                <a:solidFill>
                  <a:srgbClr val="A8B4C7"/>
                </a:solidFill>
              </a:rPr>
              <a:t>退職者とともに、判断理由・失敗・暗黙の制約まで組織から抜け落ちる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54024-77BA-4BEE-BAD1-F7B00A21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29250"/>
            <a:ext cx="84963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8101A">
              <a:alpha val="92000"/>
            </a:srgbClr>
          </a:solidFill>
          <a:ln xmlns:a="http://schemas.openxmlformats.org/drawingml/2006/main" w="9525">
            <a:solidFill>
              <a:srgbClr val="6D54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94318-2E2A-49FC-A49B-F4AC9F95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29275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E0A0"/>
                </a:solidFill>
              </a:defRPr>
            </a:pPr>
            <a:r>
              <a:rPr sz="1875" b="1">
                <a:solidFill>
                  <a:srgbClr val="FFE0A0"/>
                </a:solidFill>
              </a:rPr>
              <a:t>同じ失敗の再発は、組織が覚えていないことの帰結</a:t>
            </a:r>
          </a:p>
        </p:txBody>
      </p:sp>
    </p:spTree>
    <p:extLst>
      <p:ext uri="{BB962C8B-B14F-4D97-AF65-F5344CB8AC3E}">
        <p14:creationId xmlns:p14="http://schemas.microsoft.com/office/powerpoint/2010/main" val="9486330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27153A-9F1D-4700-8D45-53B90319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B8E87-141E-4856-9D3E-A95DA0FE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FCC70-A205-4D5C-8809-0ED3B82C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人もAIも、同じ質問に毎回ゼロから回答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716CE-D910-4FD5-8BED-CAE8978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84A69-3A87-47B7-A550-8BE58A28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DEE7A-E9A0-467C-BB7A-F45AD75A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CD7E9-FD03-47A8-9217-1C2D06FF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WITHOUT ORGBRAIN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AE0DC-197E-470E-8728-3154856D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WITH ORGBRAIN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5BF22-769D-490E-8DB1-7EEDF863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1BAA7-BB03-4833-A272-C25FCA20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E9E1B-55CE-4C0A-96D2-26DF7BAB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人がSlackを再検索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457DB-AD2D-480C-86E0-622A5802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71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BA7A4-D398-40F5-827F-B351AE3F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2943D-C0DC-49DA-9002-62D89F9F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AIもログと文書を再検索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5D886-E91D-4CB0-BA5A-69D944C2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623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5B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7F622-B8CE-485C-86F1-302E3F42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E55"/>
                </a:solidFill>
              </a:defRPr>
            </a:pPr>
            <a:r>
              <a:rPr sz="1800" b="1">
                <a:solidFill>
                  <a:srgbClr val="F4BE5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E66D4-BADF-44A9-995A-74553534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767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EEF8"/>
                </a:solidFill>
              </a:defRPr>
            </a:pPr>
            <a:r>
              <a:rPr sz="1950" b="1">
                <a:solidFill>
                  <a:srgbClr val="E7EEF8"/>
                </a:solidFill>
              </a:rPr>
              <a:t>人もAIも背景を再推論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CE3E57-2FA6-415E-AA37-1EFCBA8C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</a:defRPr>
            </a:pPr>
            <a:r>
              <a:rPr sz="2175" b="1">
                <a:solidFill>
                  <a:srgbClr val="F7FAFC"/>
                </a:solidFill>
              </a:rPr>
              <a:t>「なぜA社だけ例外仕様なの？」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175E8-FD04-426C-A177-43B120A9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4762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580EB-E27E-498A-A013-AA279479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210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A社のSAML要件により先行対応。</a:t>
            </a:r>
          </a:p>
          <a:p xmlns:a="http://schemas.openxmlformats.org/drawingml/2006/main">
            <a:pPr algn="l">
              <a:defRPr sz="1725" b="1">
                <a:solidFill>
                  <a:srgbClr val="E7EEF8"/>
                </a:solidFill>
              </a:defRPr>
            </a:pPr>
            <a:r>
              <a:rPr sz="1725" b="1">
                <a:solidFill>
                  <a:srgbClr val="E7EEF8"/>
                </a:solidFill>
              </a:rPr>
              <a:t>代替案Bは、納期と権限設計の制約で却下されました。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4E036-B827-463A-BD7F-8C7B6142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5B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697022-C209-4E1E-8088-673428FB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理由・制約・却下案・出典をセットで想起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3F23E9-707E-43C4-AD2C-12EB772C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43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出典：Slackの議論 / GitHub Issue / 仕様書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0C4FBF-D773-4A57-888D-20D86E85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00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648778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A5C5FE-8F1B-4938-AC18-0241CA2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574C-AD07-4FC5-9885-E21BE723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7A910-E37B-4F72-902B-481EFB5D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AIを使うたび、仕事の痕跡が自動で組織の記憶に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75BBF-F9EA-43F5-94EC-EEEBF3C5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F7390-4E3C-4908-9F73-9ED7F113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26083-CFAD-48FD-96B9-D45F2348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B2D63-9A5B-4185-8F14-8BCD484C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追加入力なしで、Slack・GitHub・NotionとAI実行から理由・制約・結果を蓄積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291AC-D9D6-4776-B214-0A4B70FD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B2C8B-0136-49B1-9EC9-714C9829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C35B4-53FE-4C07-9742-87B85692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6F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838CA-D054-4ECB-A168-837979B6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B506E-EB2E-4352-B4A9-EC755739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AFC"/>
                </a:solidFill>
              </a:defRPr>
            </a:pPr>
            <a:r>
              <a:rPr sz="1575" b="1">
                <a:solidFill>
                  <a:srgbClr val="F7FAFC"/>
                </a:solidFill>
              </a:rPr>
              <a:t>AI利用で生まれる痕跡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4B042-FD32-4345-8A5A-029A62FF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Slack  /  GitHub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Notion  /  AI実行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299B3-3B3D-4F41-8036-A1BAA432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D2B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447A7-1E9E-4839-87D4-F42029DC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74A79-5E6E-4E95-989D-2A092216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57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自動で記憶化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57AAF-399D-42D2-9739-D17DCE14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57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4C7"/>
                </a:solidFill>
              </a:defRPr>
            </a:pPr>
            <a:r>
              <a:rPr sz="1125" b="0">
                <a:solidFill>
                  <a:srgbClr val="A8B4C7"/>
                </a:solidFill>
              </a:rPr>
              <a:t>理由・関係・履歴を構造化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A9C33-528C-496E-9C62-30C75B25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286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75BDD-ACF2-454E-ADB2-E0B397A2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860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次のAI実行時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EB7E1-3584-40D2-B98C-EE7EF535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関連記憶を想起し</a:t>
            </a:r>
          </a:p>
          <a:p xmlns:a="http://schemas.openxmlformats.org/drawingml/2006/main">
            <a:pPr algn="ctr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ゼロから始めない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094521-B792-4F7E-AD1E-5215FF56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CAPTURE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2A21D-1B43-4C60-B7F2-16B69687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自動記録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9E2F65-F2DC-42F9-AB41-01BE4725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E601FC-CE20-43CC-9758-1DC99F3D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DISTILL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B6FC42-6A05-49A9-BF0A-008E4F79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自動選別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F161A7-C599-4597-B369-B22052C0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D78A24-5674-4922-918D-9F70BCA8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CONNECT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4A2E27-F444-467A-9F95-C5E59261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自動接続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C0BD06-E33C-4639-B96A-3AC7BA4D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793B66-453B-4107-A5D1-58E4B287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3D3FF"/>
                </a:solidFill>
              </a:defRPr>
            </a:pPr>
            <a:r>
              <a:rPr sz="825" b="1">
                <a:solidFill>
                  <a:srgbClr val="43D3FF"/>
                </a:solidFill>
              </a:rPr>
              <a:t>RECALL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31DA8A-7973-4A9D-B3FE-973E4044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自動想起</a:t>
            </a:r>
          </a:p>
        </p:txBody>
      </p:sp>
    </p:spTree>
    <p:extLst>
      <p:ext uri="{BB962C8B-B14F-4D97-AF65-F5344CB8AC3E}">
        <p14:creationId xmlns:p14="http://schemas.microsoft.com/office/powerpoint/2010/main" val="9257111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FB311-EB41-4582-B3A9-8B80A926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496BB-4380-4711-9F0B-FC06F7D6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50EEF-F1C0-4C71-B858-7DB8939A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記憶を、種類・範囲・状態・根拠で構造化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4DF24-484A-4FBF-9188-3ED64835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8EB63-575B-43E8-8DCC-D6260362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B647E-340E-4B10-B720-19D8F11B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434D7-F611-4369-8341-C0EC43C2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2286000" cy="238125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70870-ADB1-44BC-A494-D7FFD06F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C643F-33E2-445F-B1AB-CC1D5C78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種類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CEBBB-A2B2-47E7-9E35-3624E841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decision / constraint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pitfall / preference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ほか4種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F1F68-82C4-4B01-A458-F95F671D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2286000" cy="2209800"/>
          </a:xfrm>
          <a:prstGeom xmlns:a="http://schemas.openxmlformats.org/drawingml/2006/main" prst="roundRect">
            <a:avLst>
              <a:gd name="adj" fmla="val 6034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3A4B8-4C03-4991-9A67-90282580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1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8FF08-392B-42F4-AD7D-1D5A75A5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範囲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9F2EB-A460-4B22-A7A2-2A6BCC24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project / org / tenant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の3スコープ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C4D5B-5AE5-4784-A43E-C1D8A402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286000" cy="2038350"/>
          </a:xfrm>
          <a:prstGeom xmlns:a="http://schemas.openxmlformats.org/drawingml/2006/main" prst="roundRect">
            <a:avLst>
              <a:gd name="adj" fmla="val 6542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2AEE2-7F7B-412A-B8B8-62E67800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603BF-3268-4E51-9D27-79506936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状態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1EDA6-C6ED-4BF7-80CE-57826B24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有効・抑制・統合・昇格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7A272-65C6-4893-A400-56F11196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2286000" cy="18669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05B120-D0EB-49F2-AD54-09CD3765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8B8A5-70C3-4D0A-937A-33A16E4E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根拠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9DBD0-AA0C-4B38-92EF-D6539499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957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理由・却下案・制約</a:t>
            </a:r>
          </a:p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出典・版・有効期限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6386D-FEA8-4516-88A4-6575355B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245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質問と権限に応じて4軸を組み合わせ、根拠付きの記憶を次のAI実行へ</a:t>
            </a:r>
          </a:p>
        </p:txBody>
      </p:sp>
    </p:spTree>
    <p:extLst>
      <p:ext uri="{BB962C8B-B14F-4D97-AF65-F5344CB8AC3E}">
        <p14:creationId xmlns:p14="http://schemas.microsoft.com/office/powerpoint/2010/main" val="7679747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6C5A73-7A77-4A46-8E5E-2A8B3793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F1A13-58BD-4D47-9263-868BCCAD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EB989-EBA7-409E-8213-AF3E800A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結論だけでなく、理由・制約・出典まで記録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93E84-2A97-4940-BCDD-4EE6C86F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B7A53-5C85-4B27-81DC-8B12A703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14CCD-1E41-49AF-93EC-07CC66EC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87633-38E0-41A8-9050-89E21CB3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DECISION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6C1C4-8797-4932-B4A9-6FCB766F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</a:defRPr>
            </a:pPr>
            <a:r>
              <a:rPr sz="2550" b="1">
                <a:solidFill>
                  <a:srgbClr val="F7FAFC"/>
                </a:solidFill>
              </a:rPr>
              <a:t>A社だけSAML対応を先行する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830BB-CD05-4A40-9D55-865FDF16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0F998-6EF9-48F7-BBB5-8122BB85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D5A4A-C81D-430E-B9DA-3EBC13CD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契約更新までにSSOが必須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35626-58D7-4B22-9BCF-E6BFFAFF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制約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7BBC5-6D7C-4D33-8086-7F6C92CC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29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既存権限モデルを変更しない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271AF2-06D2-4D37-8320-3CDDE573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8B4C7"/>
                </a:solidFill>
              </a:defRPr>
            </a:pPr>
            <a:r>
              <a:rPr sz="1350" b="1">
                <a:solidFill>
                  <a:srgbClr val="A8B4C7"/>
                </a:solidFill>
              </a:rPr>
              <a:t>却下案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5B571-85DD-4FD1-8C99-814F0D7C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576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全顧客向け同時リリースは納期超過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7EF8D-B4E4-4CAD-AA8C-95FF43FA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3D3FF"/>
                </a:solidFill>
              </a:defRPr>
            </a:pPr>
            <a:r>
              <a:rPr sz="1350" b="1">
                <a:solidFill>
                  <a:srgbClr val="43D3FF"/>
                </a:solidFill>
              </a:rPr>
              <a:t>出典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F582A-8A44-4518-AAAC-8FA81520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86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Slack / GitHub Issue / 仕様書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C33E87-463A-4A78-B85E-E16ADC45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762250" cy="3143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0E2434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A1F1F-E334-4723-A54D-A3BFA20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次のAI実行で</a:t>
            </a:r>
          </a:p>
          <a:p xmlns:a="http://schemas.openxmlformats.org/drawingml/2006/main">
            <a:pPr algn="ctr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できること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C707B-1A5B-4047-95DC-1AA30D2C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627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CC88F-1276-4F46-BA50-B8B17B11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95650"/>
            <a:ext cx="2190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説明責任のある回答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例外条件の再利用</a:t>
            </a:r>
          </a:p>
          <a:p xmlns:a="http://schemas.openxmlformats.org/drawingml/2006/main">
            <a:pPr algn="ctr">
              <a:defRPr sz="1500" b="0">
                <a:solidFill>
                  <a:srgbClr val="89E8FF"/>
                </a:solidFill>
              </a:defRPr>
            </a:pPr>
            <a:r>
              <a:rPr sz="1500" b="0">
                <a:solidFill>
                  <a:srgbClr val="89E8FF"/>
                </a:solidFill>
              </a:rPr>
              <a:t>同じ失敗の事前警告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DDAC1-B7CA-410A-AB3D-4374064A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0007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7F95"/>
                </a:solidFill>
              </a:defRPr>
            </a:pPr>
            <a:r>
              <a:rPr sz="900" b="0">
                <a:solidFill>
                  <a:srgbClr val="6F7F95"/>
                </a:solidFill>
              </a:rPr>
              <a:t>※利用イメージ</a:t>
            </a:r>
          </a:p>
        </p:txBody>
      </p:sp>
    </p:spTree>
    <p:extLst>
      <p:ext uri="{BB962C8B-B14F-4D97-AF65-F5344CB8AC3E}">
        <p14:creationId xmlns:p14="http://schemas.microsoft.com/office/powerpoint/2010/main" val="1587319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A8CC93-C93B-4250-86E3-F7D41EC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40364-36F0-48A4-A950-3BB1C170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375B5-1FD9-4620-AC3B-8197E944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同一ハーネスで、検索品質と安全性を確認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272AD-5205-44C9-B4A1-13893696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83103-7979-4DEB-A3FA-B91CBBC3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3231F-3CC9-440E-8E52-9B0C7875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CF70E-3246-439A-8EB5-8752590E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OrgBrainが上回った指標のみ掲載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60D82-FCA1-4DE0-AB09-9912EBB7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116FF-4DE8-4EE2-AF15-4AF1F354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指標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48460-29E7-4A4F-ADB5-7FA1070D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573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E8FF"/>
                </a:solidFill>
              </a:defRPr>
            </a:pPr>
            <a:r>
              <a:rPr sz="127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C0D60-FABE-419E-9F6F-89F0F302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573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比較対象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E312C-D564-409C-99C6-47B24183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573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意味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AD597-B9B5-4D90-BA8F-20FCFA05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0A9EC-A7F4-4E57-8A58-FC41FFE0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検索精度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0D970C-0B08-400A-9DA7-876E99E6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098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D703A-4849-4231-934C-69AE4B9D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80% / Mnemosyne 56% / Hindsight 50%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FD3D1-C9B9-4170-9C5E-BB3FE6B3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矛盾・古さ・権限・判断文脈を含む200問で正答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7581D-D264-4F58-A4AB-639566F8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5F74A6-BD34-4D1E-92F5-F9691617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Pass^5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F7952-BE0A-4B3C-B6E9-5CC06DAB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861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3682E-4853-4DA9-87C8-BB2E801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861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70% / Mnemosyne 51%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948FE5-0364-45CB-8F13-4128A51D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670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同じ検索を5回繰り返しても安定して正答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92C5E-557C-4441-AE1E-36CFF77D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664AB-C002-47F4-A509-37C302D9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408866-A67F-4A22-9974-83FF8711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情報漏えい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45C316-C5AA-4897-B715-6B8B3BF8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624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0A67ED-4013-4BB1-B217-70941EFC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624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3競合はいずれも20%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546A0C-0CF5-45CD-A9C9-92171403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433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テナント・権限境界を越えた検索結果なし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C35CE-2F52-43B6-9208-80BD7AE6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2EF72C-564F-46C1-AE39-0C5DF737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EEF8"/>
                </a:solidFill>
              </a:defRPr>
            </a:pPr>
            <a:r>
              <a:rPr sz="1425" b="1">
                <a:solidFill>
                  <a:srgbClr val="E7EEF8"/>
                </a:solidFill>
              </a:rPr>
              <a:t>検索p95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0A2631-0F09-40F9-B662-C0DAB5EA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9E8FF"/>
                </a:solidFill>
              </a:defRPr>
            </a:pPr>
            <a:r>
              <a:rPr sz="2025" b="1">
                <a:solidFill>
                  <a:srgbClr val="89E8FF"/>
                </a:solidFill>
              </a:rPr>
              <a:t>13.39ms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3C0501-DE55-4D8E-88BF-57D66209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38700"/>
            <a:ext cx="350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Mem0 51.07ms / Hindsight 660.25ms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8FCED5-7C57-4150-B827-3B7099A3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327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AI実行前の想起を低遅延で追加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A6588C-1F80-4586-B6D5-51ABD23F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E2BF06-DF40-480B-BD64-11337350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D3EEE4-C719-4914-8AD3-EAC62528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DBD43E-342A-4E23-96A0-391CFA39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DA94C0-8216-405E-A552-ADCE895C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7F95"/>
                </a:solidFill>
              </a:defRPr>
            </a:pPr>
            <a:r>
              <a:rPr sz="975" b="0">
                <a:solidFill>
                  <a:srgbClr val="6F7F95"/>
                </a:solidFill>
              </a:rPr>
              <a:t>条件：retrieval-only / 200タスク / Apple M2 / 2026-07-31　※OSS全体での普遍的首位を主張する結果ではありません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563491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DFBDDC-37A0-4CF9-AA87-8C598559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A5F80-AC75-4A2A-8AF9-951C1C02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4F4AE-FA7B-4B56-AA9D-57ECC783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削減効果の例：4職種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30014-49D8-4A4D-A4ED-5D6530FF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14A5D-B0C0-489A-A37A-914D493D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32ABC-ADED-47C0-BB36-9295EEFF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E2AF3-8D2C-409D-9DE0-848CAF8D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日常業務での利用ストーリー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256E8-44F0-4A84-B3B2-5A4397C4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</a:defRPr>
            </a:pPr>
            <a:r>
              <a:rPr sz="1650" b="1">
                <a:solidFill>
                  <a:srgbClr val="F7FAFC"/>
                </a:solidFill>
              </a:rPr>
              <a:t>ソフトウェア開発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13190-F291-41E4-BA65-A359E53F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4.5h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92026-F894-4240-83F6-3829F8F8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475A2-59DD-4902-B04A-B6C50A6C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遭遇済みエラーと失敗を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実行前に想起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調査・修正ループを避け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トークンと手戻りを削減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14422-06EF-475D-8B93-31F6F364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30C97-30EE-4DDA-A96E-10AC1A8B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PdM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1E3BC-0E93-488E-A4D5-BF9F04EF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6.0h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3DB57-07A5-4CD6-BA3F-8DE89AA2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674C4-242A-4CE7-A4A2-0B1E103F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判断理由・却下案・顧客制約を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仕様検討時に想起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過去の議論と合意形成の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やり直しを削減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AD4DE-CDE2-4318-B3BB-931DED54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2359C-8EAE-43AB-AB8F-38070912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営業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69B4DD-E08E-415A-8042-66A5AD7D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3.0h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AA5EA-4F25-47C1-A2AE-6CF935F2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BFCC94-4A2E-417B-8C14-AA66C352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顧客ごとの合意・例外・過去提案を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商談前に想起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合意違反と社内確認の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往復を防止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15562F-EB28-4D55-844F-678E998B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097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4A03ED-A58B-4852-8614-D63E3CA5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9070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バックオフィス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6EF0B2-1C50-4BCB-B4FD-7798429D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3D3FF"/>
                </a:solidFill>
              </a:defRPr>
            </a:pPr>
            <a:r>
              <a:rPr sz="3450" b="1">
                <a:solidFill>
                  <a:srgbClr val="43D3FF"/>
                </a:solidFill>
              </a:rPr>
              <a:t>4.0h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0B9CA7-2A7B-4821-8DBF-24ADCF52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削減 / 月（試算）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7EE8A8-A120-4D93-BC7F-CC416D95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3241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例外承認の理由と基準を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担当者間で共有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判断のばらつきと</a:t>
            </a:r>
          </a:p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引き継ぎ負荷を削減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459B2-F2E1-452F-B75F-EE193317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D1924"/>
          </a:solidFill>
          <a:ln xmlns:a="http://schemas.openxmlformats.org/drawingml/2006/main" w="9525">
            <a:solidFill>
              <a:srgbClr val="1E405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D0D0B7-F931-4F03-A045-F567D92D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62625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AIが既知の失敗を回避するほど、完了タスク当たりの再検索・再推論・トークン消費を削減</a:t>
            </a:r>
          </a:p>
        </p:txBody>
      </p:sp>
    </p:spTree>
    <p:extLst>
      <p:ext uri="{BB962C8B-B14F-4D97-AF65-F5344CB8AC3E}">
        <p14:creationId xmlns:p14="http://schemas.microsoft.com/office/powerpoint/2010/main" val="389369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D1081-FCE4-4F73-83D6-8FC93230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518E4-FCEC-4144-BFDC-8072AD8F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8097D-9482-457E-B57B-0B755682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100人組織で、年間約3,000万円の改善余地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0BBA9-9C46-455E-A55D-482C39D7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B200E-22A7-46B8-B6A3-092BDE63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F371B-8CAF-4D24-AC7E-7BFCF07A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44171-0C48-4A16-8E47-22B52065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3D3FF"/>
                </a:solidFill>
              </a:defRPr>
            </a:pPr>
            <a:r>
              <a:rPr sz="3900" b="1">
                <a:solidFill>
                  <a:srgbClr val="43D3FF"/>
                </a:solidFill>
              </a:rPr>
              <a:t>年間 3,000万円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81EEF-2C2C-4B0D-B11F-A3F9ACD7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954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6,000時間相当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00B53-44E3-4910-91F8-7F121CC1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探し直し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FDBC8-C299-46DD-9551-91FD9575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1,200万円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C1769-7861-4267-B1D7-0A7A7AF1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Slack・GitHub・Notionの横断検索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当時の担当者への確認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A1F2D-5680-49FD-B92D-10173CD7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6分/日 × 20日 × 12か月 × 100人 × 5,000円/h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AEF3F-1173-49F0-89D6-9B784F4E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60A6AB-A969-4E83-AEAE-7379B360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記録・引き継ぎ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2D71F-B25A-4D4F-8ACF-26186457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1,500万円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BB110F-17C4-444E-A395-E97C6E68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会議・AI出力の再整理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理由・制約・変更履歴の手作業による文書化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5E658-7917-48F6-9069-30ABF91B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862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0.5h × 月5回 × 12か月 × 100人 × 5,000円/h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27339-221F-4A44-B5E2-D5314A13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024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E14D2-FD5A-4AF4-ACF3-F0C5198A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EEF8"/>
                </a:solidFill>
              </a:defRPr>
            </a:pPr>
            <a:r>
              <a:rPr sz="1650" b="1">
                <a:solidFill>
                  <a:srgbClr val="E7EEF8"/>
                </a:solidFill>
              </a:rPr>
              <a:t>既知障害・AI失敗の再発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85C54-860F-4240-8328-2C2F1956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33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3D3FF"/>
                </a:solidFill>
              </a:defRPr>
            </a:pPr>
            <a:r>
              <a:rPr sz="2100" b="1">
                <a:solidFill>
                  <a:srgbClr val="43D3FF"/>
                </a:solidFill>
              </a:rPr>
              <a:t>300万円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3C1E8-F75C-4C3C-97AF-2D228A09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958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遭遇済みエラーをAIが再実装</a:t>
            </a:r>
          </a:p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原因調査・ロールバック・再レビュー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52664-4549-46AA-BFFB-103D81D3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101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12件/年 × 50万円/件 × 50%回避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16649-CADB-4CFE-B91B-BF4F978E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前提：平均人件費5,000円/h。失敗1件50万円は、開発・QA・緊急対応を含む試算例</a:t>
            </a:r>
          </a:p>
        </p:txBody>
      </p:sp>
    </p:spTree>
    <p:extLst>
      <p:ext uri="{BB962C8B-B14F-4D97-AF65-F5344CB8AC3E}">
        <p14:creationId xmlns:p14="http://schemas.microsoft.com/office/powerpoint/2010/main" val="3996352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EAABF8-8C26-4B5B-B767-BC76FD46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0CAFB-C477-4743-BD36-5D9A5A3F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F408F-F981-46A6-9A29-5A795B41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効果測定も自動化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7F552-CD32-4859-9672-4FB12063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22E26-A54E-4043-8605-90164740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E7BF2-7546-4EF6-8239-82CFA673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58196-258C-4154-A63E-1F998127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検索・記憶の寄与・比較実験・業務成果を、AI実行ログから継続計測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0BEE6-C754-4E2C-83E7-02722651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4E4A2-219D-4A1A-A46D-3331901A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検索ログ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8830E-F4D7-44EB-B0C5-5B33298B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retrieval_events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A923D-C3C9-42F5-A76A-5E69714B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検索ごとにヒット・fallback・遅延を自動記録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BBAF5-C082-4921-AF1B-C2305207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E695D-D910-4404-8C92-08C779C0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ヒット率 / p95 / 検索回数を集計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C1D38-2B3C-4CBF-AEAD-DDA11D89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240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BFFA2-4114-4CB6-8698-2A348806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メモリー影響ログ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85DB9-EB93-4F41-A957-F586AD9E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57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memory_impact_events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F661A-6D99-46FB-BBC9-B9A91806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AI実行後に利用有無・回避検索・根拠IDを報告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9D4B6-FA8D-4660-B8A2-E23C607E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6B62E-B63A-44FE-B366-919BAF73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9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記憶利用率 / 再検索回避率を集計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F30E6-7C54-4FEA-B350-55E879C3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4D858-769D-49D6-B124-D8E2CC90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比較計測ログ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65839B-C81F-4A43-9897-5762E022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measurement_variants / comparisons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EEAF45-B68E-4ACC-85D5-45AA47BA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同一入力を、記憶なし / ありでペア実行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2CC207-A991-409F-B715-972823E9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3C3CD4-D9AE-4466-A90D-AC4E8F4A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トークン / 費用 / 完了時間の差分を算出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C7215F-9EA9-4C2B-90C7-3DB2CEE4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52197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FBDED0-117A-489E-AD05-1EF5C468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</a:defRPr>
            </a:pPr>
            <a:r>
              <a:rPr sz="1725" b="1">
                <a:solidFill>
                  <a:srgbClr val="F7FAFC"/>
                </a:solidFill>
              </a:rPr>
              <a:t>タスク・監査ログ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ABD6E1-88AC-4014-9020-5B829F4B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tasks / audit_events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DA8F96-61D0-4F64-8F1B-104B449D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95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開始・完了・失敗・権限判定を時刻付きで記録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C432C-F30F-4839-B55E-A9A58059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292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14989C-B760-46A2-AA31-2E85AA83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054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EEF8"/>
                </a:solidFill>
              </a:defRPr>
            </a:pPr>
            <a:r>
              <a:rPr sz="1275" b="1">
                <a:solidFill>
                  <a:srgbClr val="E7EEF8"/>
                </a:solidFill>
              </a:rPr>
              <a:t>完了時間 / 成功率 / denied件数を集計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8EE61B-FD92-4C3B-99E9-13D190C5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121923"/>
          </a:solidFill>
          <a:ln xmlns:a="http://schemas.openxmlformats.org/drawingml/2006/main" w="9525">
            <a:solidFill>
              <a:srgbClr val="3A455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35012E-4E88-4AFA-ACB9-ECD9D39D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EEF8"/>
                </a:solidFill>
              </a:defRPr>
            </a:pPr>
            <a:r>
              <a:rPr sz="1200" b="1">
                <a:solidFill>
                  <a:srgbClr val="E7EEF8"/>
                </a:solidFill>
              </a:rPr>
              <a:t>計測設定後は、PoCの実行ログからKPIを自動集計し、導入前ベースラインと比較</a:t>
            </a:r>
          </a:p>
        </p:txBody>
      </p:sp>
    </p:spTree>
    <p:extLst>
      <p:ext uri="{BB962C8B-B14F-4D97-AF65-F5344CB8AC3E}">
        <p14:creationId xmlns:p14="http://schemas.microsoft.com/office/powerpoint/2010/main" val="17761151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8F498A-17B6-4E5E-AD6E-99ED1F3E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85E77-C1E9-4A38-BAF3-37037D84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178A2-6DA3-470B-81F8-5F460288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課金単位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E443D-0695-4944-9E0A-D7257E66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B109D-9BD0-407C-8837-78C4BCCF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89BE5-A846-427A-8E1C-FCC287EB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9BFFB-BC8F-47B5-93E4-8E1EB061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0439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149F7-F63D-48B4-A31F-F5BE8E7E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比較項目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CC348-AF8E-4523-9616-40E3699C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907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7FAFC"/>
                </a:solidFill>
              </a:defRPr>
            </a:pPr>
            <a:r>
              <a:rPr sz="1425" b="1">
                <a:solidFill>
                  <a:srgbClr val="F7FAFC"/>
                </a:solidFill>
              </a:rPr>
              <a:t>一般的なSaaS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3460E-C8ED-409F-8787-74D8D198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9E8FF"/>
                </a:solidFill>
              </a:defRPr>
            </a:pPr>
            <a:r>
              <a:rPr sz="1425" b="1">
                <a:solidFill>
                  <a:srgbClr val="89E8FF"/>
                </a:solidFill>
              </a:rPr>
              <a:t>OrgBrain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A90C3-F9B3-495C-8F6C-BA665863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086D5-623B-4918-BB29-946973FB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課金単位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083AD-24F8-4379-A4F2-BEE2D30D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57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ユーザー数 × 単価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DBB49-E54B-4F52-BF12-8515328C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19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組織基本料 ＋ 利用範囲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5CA1F-3B5B-4762-868A-BC6FD602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5BFDC-EBC6-4298-8965-4EA1E003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利用者の追加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2F6AF-11D5-4D84-80ED-854FFFF4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99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人数に比例して増額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CD8C9-FD7F-48E5-AD66-5AC0D248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71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全社員・全AIを基本料金に包含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7B84A-D077-4E07-8703-A1BDD532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FE8ECB-15B3-4473-AD8F-C37A924D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39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FE37B-EE03-4C53-B36D-3D442B9C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B4C7"/>
                </a:solidFill>
              </a:defRPr>
            </a:pPr>
            <a:r>
              <a:rPr sz="1575" b="1">
                <a:solidFill>
                  <a:srgbClr val="A8B4C7"/>
                </a:solidFill>
              </a:rPr>
              <a:t>利用拡大時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BF1D3-8C16-43FD-8D79-89080183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62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EEF8"/>
                </a:solidFill>
              </a:defRPr>
            </a:pPr>
            <a:r>
              <a:rPr sz="1575" b="1">
                <a:solidFill>
                  <a:srgbClr val="E7EEF8"/>
                </a:solidFill>
              </a:rPr>
              <a:t>利用を広げるほどコスト増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17AD7-10F6-423A-A4AA-A1D1B0F8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9E8FF"/>
                </a:solidFill>
              </a:defRPr>
            </a:pPr>
            <a:r>
              <a:rPr sz="1650" b="1">
                <a:solidFill>
                  <a:srgbClr val="89E8FF"/>
                </a:solidFill>
              </a:rPr>
              <a:t>記憶の接続と1人当たり価値が拡大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FAB13-E941-4671-9517-DFA056E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65D64D-F171-49B1-99D0-E40C5AC9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C36417-2CCD-4C00-8058-86236F64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AFD65C-C716-4A43-AF8D-B852920F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4950"/>
            <a:ext cx="9448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344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603C1-CD47-4341-8B93-BBA250AE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883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全社で使うほど、組織メモリーの価値が増える料金設計</a:t>
            </a:r>
          </a:p>
        </p:txBody>
      </p:sp>
    </p:spTree>
    <p:extLst>
      <p:ext uri="{BB962C8B-B14F-4D97-AF65-F5344CB8AC3E}">
        <p14:creationId xmlns:p14="http://schemas.microsoft.com/office/powerpoint/2010/main" val="15151383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2D91B8-E836-4274-9CA0-F70624B4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BB1A9-E6C2-4596-8932-DD34A315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96AA2-A7E4-4843-A13B-D409C7E2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4つのプランと基本料金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AD23A-E702-4AAA-A3E7-637ABB63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01683-0CC0-4D4B-BDA8-C914245A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E106A-916F-4AC5-9600-364620EF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AA20D-8F0C-4980-AA1B-6F2E5A9B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Organization単位の基本料金に、全社員・全AIの利用を包含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F7DFF-9362-41F1-BAD9-3DB50194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F7F95"/>
                </a:solidFill>
              </a:defRPr>
            </a:pPr>
            <a:r>
              <a:rPr sz="1875" b="1">
                <a:solidFill>
                  <a:srgbClr val="6F7F95"/>
                </a:solidFill>
              </a:rPr>
              <a:t>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1826E-93F2-4C63-B4A3-BFA41EBE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3〜5万円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0EFBA-1ED5-4622-9D62-F03689F8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0121C-01BD-4FF9-B9C2-91355E95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小規模チーム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1D811-D9F4-49D4-A77F-B5718317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共有メモリーを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小さく始める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B3C8E-D9F1-4098-A529-EDAACBA8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773B2E-70B1-477C-AE89-22A4D744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3D3FF"/>
                </a:solidFill>
              </a:defRPr>
            </a:pPr>
            <a:r>
              <a:rPr sz="1875" b="1">
                <a:solidFill>
                  <a:srgbClr val="43D3FF"/>
                </a:solidFill>
              </a:rPr>
              <a:t>COMPANY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9A9A3-D20B-4CA9-B973-721409FB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9E8FF"/>
                </a:solidFill>
              </a:defRPr>
            </a:pPr>
            <a:r>
              <a:rPr sz="2700" b="1">
                <a:solidFill>
                  <a:srgbClr val="89E8FF"/>
                </a:solidFill>
              </a:rPr>
              <a:t>10〜20万円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C2C10-39BE-4FDD-9B8D-FC471BDA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4DECF-9639-4EFC-9388-B6026530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複数部門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E6360-6406-4670-BECE-611683E9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AdapterとDomainを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段階的に拡張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7E705-2138-4A3E-921F-C1D0E703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00200"/>
            <a:ext cx="2628900" cy="3524250"/>
          </a:xfrm>
          <a:prstGeom xmlns:a="http://schemas.openxmlformats.org/drawingml/2006/main" prst="roundRect">
            <a:avLst>
              <a:gd name="adj" fmla="val 579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E06F8-6760-45D6-B48E-9308E5A7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C9E20-2A10-4C8C-B9C1-F11E8CC7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7F95"/>
                </a:solidFill>
              </a:defRPr>
            </a:pPr>
            <a:r>
              <a:rPr sz="1650" b="1">
                <a:solidFill>
                  <a:srgbClr val="6F7F95"/>
                </a:solidFill>
              </a:rPr>
              <a:t>ENTERPRISE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1DBB0-0346-4DB9-8389-56662C1E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30〜50万円〜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AE862-BE8D-4593-9427-74A9961C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5F0095-3CAE-4D27-BC41-6365DAA8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全社利用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642E2-90CC-414B-B779-0845E470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高度な権限・監査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SLAに対応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E3206-17C6-4ACF-B311-BF9FEC84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097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963FE2-9E58-424F-9C3F-CF2A8114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7145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F7F95"/>
                </a:solidFill>
              </a:defRPr>
            </a:pPr>
            <a:r>
              <a:rPr sz="1500" b="1">
                <a:solidFill>
                  <a:srgbClr val="6F7F95"/>
                </a:solidFill>
              </a:rPr>
              <a:t>ENTERPRISE PLUS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AE49EF-0027-4DDB-955F-9AB301D3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AFC"/>
                </a:solidFill>
              </a:defRPr>
            </a:pPr>
            <a:r>
              <a:rPr sz="2325" b="1">
                <a:solidFill>
                  <a:srgbClr val="F7FAFC"/>
                </a:solidFill>
              </a:rPr>
              <a:t>100万円〜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4E502D-E877-4B4E-BA1D-AE3A0155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4C7"/>
                </a:solidFill>
              </a:defRPr>
            </a:pPr>
            <a:r>
              <a:rPr sz="1050" b="0">
                <a:solidFill>
                  <a:srgbClr val="A8B4C7"/>
                </a:solidFill>
              </a:rPr>
              <a:t>/ 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AFC5C6-81C6-4DCF-8AAF-9BA1A10B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7EEF8"/>
                </a:solidFill>
              </a:defRPr>
            </a:pPr>
            <a:r>
              <a:rPr sz="1500" b="1">
                <a:solidFill>
                  <a:srgbClr val="E7EEF8"/>
                </a:solidFill>
              </a:rPr>
              <a:t>グループ・専用環境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06567F-FBD9-4FF3-842D-6D0C0C5B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767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個別要件と専用運用を</a:t>
            </a:r>
          </a:p>
          <a:p xmlns:a="http://schemas.openxmlformats.org/drawingml/2006/main">
            <a:pPr algn="l">
              <a:defRPr sz="1275" b="0">
                <a:solidFill>
                  <a:srgbClr val="A8B4C7"/>
                </a:solidFill>
              </a:defRPr>
            </a:pPr>
            <a:r>
              <a:rPr sz="1275" b="0">
                <a:solidFill>
                  <a:srgbClr val="A8B4C7"/>
                </a:solidFill>
              </a:rPr>
              <a:t>包括提供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F0A2E3-732B-4505-B664-FCB375B7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価格は利用範囲・セキュリティ要件・運用形態に応じたイメージです。</a:t>
            </a:r>
          </a:p>
        </p:txBody>
      </p:sp>
    </p:spTree>
    <p:extLst>
      <p:ext uri="{BB962C8B-B14F-4D97-AF65-F5344CB8AC3E}">
        <p14:creationId xmlns:p14="http://schemas.microsoft.com/office/powerpoint/2010/main" val="3774226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D3D767-99CD-4D54-B300-C2CDB5F6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39D63-A274-4DA4-9ED3-24D4219F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DBC20-B986-45EE-B0F3-47BE101A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追加の従量課金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42BC6-FBB6-4297-A198-B15A72DD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75E5C-C989-4B4C-A84F-F6F0DEDD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C939A-CEDE-4A41-933F-35083835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BCAE1-000E-4184-896D-3630764B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918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2DBB7-B457-41E5-8F54-253881F8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</a:defRPr>
            </a:pPr>
            <a:r>
              <a:rPr sz="2025" b="1">
                <a:solidFill>
                  <a:srgbClr val="F7FAFC"/>
                </a:solidFill>
              </a:rPr>
              <a:t>Organization基本料金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98113-BDD7-4F54-9050-047D6004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00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全社員・全AI / コア機能 / 基本メモリー容量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5477E-C903-44CA-94AA-21964AA9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課金項目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AADC5-6DDF-47CD-BFBF-74AF36E6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課金単位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9E77C-D0A0-4430-9F4E-4551AFD3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9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価格案（税別）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3151C2-E20D-4803-8588-C8C71180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7F95"/>
                </a:solidFill>
              </a:defRPr>
            </a:pPr>
            <a:r>
              <a:rPr sz="975" b="1">
                <a:solidFill>
                  <a:srgbClr val="6F7F95"/>
                </a:solidFill>
              </a:rPr>
              <a:t>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B817D6-CEC4-4AF3-ADFB-761D8DB3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D97A0-80B6-485B-AF7D-F7091704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1接続 / 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D4039-F890-4893-9093-83A20291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336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1万円〜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6F5D6-7E2F-418E-B08A-7DEABB64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Slack・Notion・GitHub・Salesforce・Teams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687B36-629A-43DF-8539-49F1C861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E8FF6-22F4-4EEA-94B4-6D97E490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5FE74-D633-4917-ADFB-7155A9AC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1領域 / 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3E9D7-82FC-444B-914E-7CFA9950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81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2万円〜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7F3D5-AA19-4E77-8BE4-646B889E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Engineering・Sales・Management Brain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161F0B-1D3F-4E79-B65A-7B6DC632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6A475-1FFB-4143-B914-16CC3FBF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AI 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5171C5-A0DD-4B33-9B00-11037FD8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1,000処理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8E1D1D-99A4-4D6F-A8C5-832D682C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E2184E-BA72-4E5A-BFAE-D8F3A6A0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矛盾検知・資料修正・統合・分析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B9576-580A-45F2-99D8-B0DB2282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433543-05C1-42B9-BE7E-51E66D8D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GOVERNANCE / SECURITY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81FAA6-0681-4BFC-95E8-89190758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1組織 / 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39AB65-3397-4E46-90B7-59984093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76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10万円〜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628B53-F225-4863-8466-A611790F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高度な権限・監査・SLA／専用環境は個別見積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C96CF1-D78A-4830-B191-C0FA265C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F380D2-E8D0-4FC9-8C20-8982BD3E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MEMORY OVERAGE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6DE81D-0D9E-41C4-80A5-88CF646A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EEF8"/>
                </a:solidFill>
              </a:defRPr>
            </a:pPr>
            <a:r>
              <a:rPr sz="1350" b="1">
                <a:solidFill>
                  <a:srgbClr val="E7EEF8"/>
                </a:solidFill>
              </a:rPr>
              <a:t>1GB / 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1636E5-B210-4A46-836A-5952E8B7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24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E8FF"/>
                </a:solidFill>
              </a:defRPr>
            </a:pPr>
            <a:r>
              <a:rPr sz="1575" b="1">
                <a:solidFill>
                  <a:srgbClr val="89E8FF"/>
                </a:solidFill>
              </a:rPr>
              <a:t>5,000円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EA20C7-6E7E-4889-BA6C-EA258EEE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43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4C7"/>
                </a:solidFill>
              </a:defRPr>
            </a:pPr>
            <a:r>
              <a:rPr sz="1200" b="0">
                <a:solidFill>
                  <a:srgbClr val="A8B4C7"/>
                </a:solidFill>
              </a:rPr>
              <a:t>基本容量の超過分のみ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E721C7-CE6D-49D9-8B11-BCF091C3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9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7F95"/>
                </a:solidFill>
              </a:defRPr>
            </a:pPr>
            <a:r>
              <a:rPr sz="1050" b="0">
                <a:solidFill>
                  <a:srgbClr val="6F7F95"/>
                </a:solidFill>
              </a:rPr>
              <a:t>※価格案。契約条件・処理負荷・専用環境の要件により変動</a:t>
            </a:r>
          </a:p>
        </p:txBody>
      </p:sp>
    </p:spTree>
    <p:extLst>
      <p:ext uri="{BB962C8B-B14F-4D97-AF65-F5344CB8AC3E}">
        <p14:creationId xmlns:p14="http://schemas.microsoft.com/office/powerpoint/2010/main" val="12489423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DE1E16-79A2-4B10-9869-AF300377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10031-BAE2-4174-93EB-D2BD542B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90E1C-1C29-4423-95BA-62D0891A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ライセンス形態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68198-217D-4894-A0E1-74534757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916D3-5035-43FC-BAC3-BA33FB5A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7BCCC-7473-41BC-94D8-98EE44AE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7D16E-0F76-4324-8B4F-4F469986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BDEB1-B182-4BAA-A9C5-F6C3B7F7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8EE8F-2CD7-4EF8-940D-649ACE2F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Free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EECDD-A163-4284-B371-0566AE38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C2893-5315-4446-B1DE-2AAB8272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個人・プロジェクトで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まず試す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9B020-EBF8-47E5-8792-9C1035EA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2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2F82E-8B7D-4665-AB98-923574F4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7F95"/>
                </a:solidFill>
              </a:defRPr>
            </a:pPr>
            <a:r>
              <a:rPr sz="1050" b="1">
                <a:solidFill>
                  <a:srgbClr val="6F7F95"/>
                </a:solidFill>
              </a:rPr>
              <a:t>SELF-HOSTED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A6433-248A-4277-9ABE-A6C2C6B3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</a:defRPr>
            </a:pPr>
            <a:r>
              <a:rPr sz="2625" b="1">
                <a:solidFill>
                  <a:srgbClr val="F7FAFC"/>
                </a:solidFill>
              </a:rPr>
              <a:t>Infrastructure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29AE0-DAA1-44BD-916E-A9BC84C8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Cloudflare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A8BFB-88A1-4448-AF6A-6E3E3571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自社運用で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データを保持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B3276-C9B4-47A5-94A7-BDE379C5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33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19050">
            <a:solidFill>
              <a:srgbClr val="43D3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AA98A-9707-4C4B-B2E7-BBB0AF40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9E8FF"/>
                </a:solidFill>
              </a:defRPr>
            </a:pPr>
            <a:r>
              <a:rPr sz="1050" b="1">
                <a:solidFill>
                  <a:srgbClr val="89E8FF"/>
                </a:solidFill>
              </a:rPr>
              <a:t>MANAGED SaaS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F6A28-2C24-4808-ABE2-9CE5B5A8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800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</a:defRPr>
            </a:pPr>
            <a:r>
              <a:rPr sz="2100" b="1">
                <a:solidFill>
                  <a:srgbClr val="F7FAFC"/>
                </a:solidFill>
              </a:rPr>
              <a:t>Team → Enterprise Plus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90F78-7EF5-4269-84E7-BA205E87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E8FF"/>
                </a:solidFill>
              </a:defRPr>
            </a:pPr>
            <a:r>
              <a:rPr sz="1350" b="1">
                <a:solidFill>
                  <a:srgbClr val="89E8FF"/>
                </a:solidFill>
              </a:rPr>
              <a:t>Managed OrgBrain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F55B6B-34AA-4F43-B8A1-2E108F85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800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インフラ保守なしで</a:t>
            </a:r>
          </a:p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全社展開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7AF46-E045-4CA7-B2B1-BBFA4D77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67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Local-firstから、共有・統制・運用支援まで段階的に拡張</a:t>
            </a:r>
          </a:p>
        </p:txBody>
      </p:sp>
    </p:spTree>
    <p:extLst>
      <p:ext uri="{BB962C8B-B14F-4D97-AF65-F5344CB8AC3E}">
        <p14:creationId xmlns:p14="http://schemas.microsoft.com/office/powerpoint/2010/main" val="4988533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28DF2-A0F6-486C-AA0D-1814C100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F7387-8196-4BBD-A074-960BDB9C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45881-FE09-44A5-82E4-55806379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PoCのご提案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11CBD-1F56-4F9A-AE2A-41AE6D5F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0B4F9-AFBC-4CF6-A64D-AD238C95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300D1-3DDE-4C4C-BA31-7E3171E5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23FE3-7BB7-46F1-8BD9-6C3C7E22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4C7"/>
                </a:solidFill>
              </a:defRPr>
            </a:pPr>
            <a:r>
              <a:rPr sz="1425" b="0">
                <a:solidFill>
                  <a:srgbClr val="A8B4C7"/>
                </a:solidFill>
              </a:rPr>
              <a:t>1チーム・8週間で、継続判断に必要なROIとリスクを可視化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DB6F3-D12D-4DB5-BAC0-282AD07A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2895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36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8AED3-F6C5-4303-AFA0-85986487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AD2FF-758E-4921-B922-8DAB3CB9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0-2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CDB55-9D9B-4F83-9E3D-FDB2528B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ベースライン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5A790-3212-4193-B0D8-E740BC69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検索時間・手戻り・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AIコストを計測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C9751-E89E-4C9B-907D-A856298D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3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31CCA-8B4C-460A-B5B3-CA9B4446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3D3FF"/>
                </a:solidFill>
              </a:defRPr>
            </a:pPr>
            <a:r>
              <a:rPr sz="975" b="1">
                <a:solidFill>
                  <a:srgbClr val="43D3FF"/>
                </a:solidFill>
              </a:rPr>
              <a:t>WEEK 3-6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F2D04-D8D7-4A75-9DD6-274CA4ED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運用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F644C-C648-41C0-AF5C-3F831EB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1〜2 Adapterを接続し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実業務で利用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2019D-7785-45F8-AB6D-06B4653B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94273-D760-4364-9875-F7E89E98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BE55"/>
                </a:solidFill>
              </a:defRPr>
            </a:pPr>
            <a:r>
              <a:rPr sz="975" b="1">
                <a:solidFill>
                  <a:srgbClr val="F4BE55"/>
                </a:solidFill>
              </a:rPr>
              <a:t>WEEK 7-8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2028E-812E-4BE2-A817-930F1C86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71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AFC"/>
                </a:solidFill>
              </a:defRPr>
            </a:pPr>
            <a:r>
              <a:rPr sz="2250" b="1">
                <a:solidFill>
                  <a:srgbClr val="F7FAFC"/>
                </a:solidFill>
              </a:rPr>
              <a:t>評価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F61DA-AF53-42B2-8B71-26318FDE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KPI・ROI・安全性を</a:t>
            </a:r>
          </a:p>
          <a:p xmlns:a="http://schemas.openxmlformats.org/drawingml/2006/main">
            <a:pPr algn="ctr">
              <a:defRPr sz="1350" b="0">
                <a:solidFill>
                  <a:srgbClr val="A8B4C7"/>
                </a:solidFill>
              </a:defRPr>
            </a:pPr>
            <a:r>
              <a:rPr sz="1350" b="0">
                <a:solidFill>
                  <a:srgbClr val="A8B4C7"/>
                </a:solidFill>
              </a:rPr>
              <a:t>共同レビュー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C6E713-AA62-47B7-9821-5106ADC5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789F54-B0F8-4F76-B893-461DE31E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57825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7FAFC"/>
                </a:solidFill>
              </a:defRPr>
            </a:pPr>
            <a:r>
              <a:rPr sz="1800" b="1">
                <a:solidFill>
                  <a:srgbClr val="F7FAFC"/>
                </a:solidFill>
              </a:rPr>
              <a:t>SlackまたはGitHubを接続し、“探し直し”の削減量を実測</a:t>
            </a:r>
          </a:p>
        </p:txBody>
      </p:sp>
    </p:spTree>
    <p:extLst>
      <p:ext uri="{BB962C8B-B14F-4D97-AF65-F5344CB8AC3E}">
        <p14:creationId xmlns:p14="http://schemas.microsoft.com/office/powerpoint/2010/main" val="13347130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EE036-5AEF-41C1-A8C3-D5A96342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3D3FF"/>
                </a:solidFill>
              </a:defRPr>
            </a:pPr>
            <a:r>
              <a:rPr sz="900" b="1">
                <a:solidFill>
                  <a:srgbClr val="43D3FF"/>
                </a:solidFill>
              </a:rPr>
              <a:t>ORG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A37D2-CACC-448F-8CDC-47CB5790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"/>
            <a:ext cx="398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F95"/>
                </a:solidFill>
              </a:defRPr>
            </a:pPr>
            <a:r>
              <a:rPr sz="900" b="1">
                <a:solidFill>
                  <a:srgbClr val="6F7F95"/>
                </a:solidFill>
              </a:rPr>
              <a:t>AIが動くたび、組織が学ぶ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637AD-02A1-43C6-9C16-C1060802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</a:defRPr>
            </a:pPr>
            <a:r>
              <a:rPr sz="3450" b="1">
                <a:solidFill>
                  <a:srgbClr val="F7FAFC"/>
                </a:solidFill>
              </a:rPr>
              <a:t>お問い合わせ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1D16B-5FD8-4C25-B383-876EC8A8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73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F750B-5893-4782-A616-0E5CE458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ORGBRAIN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6BDF0-D0DF-4F33-9705-46CA3E26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F7F95"/>
                </a:solidFill>
              </a:defRPr>
            </a:pPr>
            <a:r>
              <a:rPr sz="825" b="1">
                <a:solidFill>
                  <a:srgbClr val="6F7F95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73381-8531-41DD-968F-3AD8E001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9E8FF"/>
                </a:solidFill>
              </a:defRPr>
            </a:pPr>
            <a:r>
              <a:rPr sz="2250" b="1">
                <a:solidFill>
                  <a:srgbClr val="89E8FF"/>
                </a:solidFill>
              </a:rPr>
              <a:t>AI利用を、組織知に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3C6B3-E152-4BF6-9480-71E29813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3D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9A4C6-E0C3-4ADE-8BB4-65FBDCDC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7FAFC"/>
                </a:solidFill>
              </a:defRPr>
            </a:pPr>
            <a:r>
              <a:rPr sz="3600" b="1">
                <a:solidFill>
                  <a:srgbClr val="F7FAFC"/>
                </a:solidFill>
              </a:rPr>
              <a:t>OrgBrain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C2325-D9BF-427C-876B-E30201BC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EEF8"/>
                </a:solidFill>
              </a:defRPr>
            </a:pPr>
            <a:r>
              <a:rPr sz="1800" b="1">
                <a:solidFill>
                  <a:srgbClr val="E7EEF8"/>
                </a:solidFill>
              </a:rPr>
              <a:t>導入相談　/　PoC設計　/　Enterprise見積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6842C-A9C2-486C-BBC4-561CCCE6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67437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2739"/>
          </a:solidFill>
          <a:ln xmlns:a="http://schemas.openxmlformats.org/drawingml/2006/main" w="9525">
            <a:solidFill>
              <a:srgbClr val="43D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FC681-754B-4123-AB6B-500911B2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0052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github.com/miyajima/org-brain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D5ACB-2EE3-4FA6-B72A-414F332B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9E8FF"/>
                </a:solidFill>
              </a:defRPr>
            </a:pPr>
            <a:r>
              <a:rPr sz="1950" b="1">
                <a:solidFill>
                  <a:srgbClr val="89E8FF"/>
                </a:solidFill>
              </a:rPr>
              <a:t>AIが動くたび、組織が学ぶ</a:t>
            </a:r>
          </a:p>
        </p:txBody>
      </p:sp>
    </p:spTree>
    <p:extLst>
      <p:ext uri="{BB962C8B-B14F-4D97-AF65-F5344CB8AC3E}">
        <p14:creationId xmlns:p14="http://schemas.microsoft.com/office/powerpoint/2010/main" val="1846429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2026-08-07T10:36:20.4300000Z</dcterms:created>
  <dcterms:modified xsi:type="dcterms:W3CDTF">2026-08-07T10:36:20.4300000Z</dcterms:modified>
</coreProperties>
</file>