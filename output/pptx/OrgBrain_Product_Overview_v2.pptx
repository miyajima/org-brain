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45d066350e47db" /><Relationship Type="http://schemas.openxmlformats.org/officeDocument/2006/relationships/extended-properties" Target="/docProps/app.xml" Id="Rafa6885fb11344e0" /><Relationship Type="http://schemas.openxmlformats.org/officeDocument/2006/relationships/officeDocument" Target="/ppt/presentation.xml" Id="R0308b472e35842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9f1e2456a452b"/>
  </p:sldMasterIdLst>
  <p:notesMasterIdLst>
    <p:notesMasterId xmlns:r="http://schemas.openxmlformats.org/officeDocument/2006/relationships" r:id="Rfd30a27db22040e4"/>
  </p:notesMasterIdLst>
  <p:sldIdLst>
    <p:sldId xmlns:r="http://schemas.openxmlformats.org/officeDocument/2006/relationships" id="256" r:id="R2494968450184743"/>
    <p:sldId xmlns:r="http://schemas.openxmlformats.org/officeDocument/2006/relationships" id="257" r:id="Rff626f36dd734a50"/>
    <p:sldId xmlns:r="http://schemas.openxmlformats.org/officeDocument/2006/relationships" id="258" r:id="Rfaadb3eb6bd94ba3"/>
    <p:sldId xmlns:r="http://schemas.openxmlformats.org/officeDocument/2006/relationships" id="259" r:id="Rad4b977868eb4055"/>
    <p:sldId xmlns:r="http://schemas.openxmlformats.org/officeDocument/2006/relationships" id="260" r:id="R13f2ba4a05a64bef"/>
    <p:sldId xmlns:r="http://schemas.openxmlformats.org/officeDocument/2006/relationships" id="261" r:id="Rb1a39bb8f92f4047"/>
    <p:sldId xmlns:r="http://schemas.openxmlformats.org/officeDocument/2006/relationships" id="262" r:id="R468bbe2912bc421e"/>
    <p:sldId xmlns:r="http://schemas.openxmlformats.org/officeDocument/2006/relationships" id="263" r:id="Rf19402968a8c45b6"/>
    <p:sldId xmlns:r="http://schemas.openxmlformats.org/officeDocument/2006/relationships" id="264" r:id="R1efe4943b4044e0f"/>
    <p:sldId xmlns:r="http://schemas.openxmlformats.org/officeDocument/2006/relationships" id="265" r:id="Rbd54f63262314bc6"/>
    <p:sldId xmlns:r="http://schemas.openxmlformats.org/officeDocument/2006/relationships" id="266" r:id="Rd43bb9c4da974b28"/>
    <p:sldId xmlns:r="http://schemas.openxmlformats.org/officeDocument/2006/relationships" id="267" r:id="R61f22baada804120"/>
    <p:sldId xmlns:r="http://schemas.openxmlformats.org/officeDocument/2006/relationships" id="268" r:id="R2fada671148b4203"/>
    <p:sldId xmlns:r="http://schemas.openxmlformats.org/officeDocument/2006/relationships" id="269" r:id="R8ca1efd8b24a47c7"/>
    <p:sldId xmlns:r="http://schemas.openxmlformats.org/officeDocument/2006/relationships" id="270" r:id="R6175be063e6945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fc5c55365546c5" /><Relationship Type="http://schemas.openxmlformats.org/officeDocument/2006/relationships/slideMaster" Target="/ppt/slideMasters/slideMaster1.xml" Id="R8789f1e2456a452b" /><Relationship Type="http://schemas.openxmlformats.org/officeDocument/2006/relationships/notesMaster" Target="/ppt/notesMasters/notesMaster1.xml" Id="Rfd30a27db22040e4" /><Relationship Type="http://schemas.openxmlformats.org/officeDocument/2006/relationships/presProps" Target="/ppt/presProps.xml" Id="R68903c5a7e6a463d" /><Relationship Type="http://schemas.openxmlformats.org/officeDocument/2006/relationships/tableStyles" Target="/ppt/tableStyles.xml" Id="Rbfb0e84c59374114" /><Relationship Type="http://schemas.openxmlformats.org/officeDocument/2006/relationships/slide" Target="/ppt/slides/slide1.xml" Id="R2494968450184743" /><Relationship Type="http://schemas.openxmlformats.org/officeDocument/2006/relationships/slide" Target="/ppt/slides/slide2.xml" Id="Rff626f36dd734a50" /><Relationship Type="http://schemas.openxmlformats.org/officeDocument/2006/relationships/slide" Target="/ppt/slides/slide3.xml" Id="Rfaadb3eb6bd94ba3" /><Relationship Type="http://schemas.openxmlformats.org/officeDocument/2006/relationships/slide" Target="/ppt/slides/slide4.xml" Id="Rad4b977868eb4055" /><Relationship Type="http://schemas.openxmlformats.org/officeDocument/2006/relationships/slide" Target="/ppt/slides/slide5.xml" Id="R13f2ba4a05a64bef" /><Relationship Type="http://schemas.openxmlformats.org/officeDocument/2006/relationships/slide" Target="/ppt/slides/slide6.xml" Id="Rb1a39bb8f92f4047" /><Relationship Type="http://schemas.openxmlformats.org/officeDocument/2006/relationships/slide" Target="/ppt/slides/slide7.xml" Id="R468bbe2912bc421e" /><Relationship Type="http://schemas.openxmlformats.org/officeDocument/2006/relationships/slide" Target="/ppt/slides/slide8.xml" Id="Rf19402968a8c45b6" /><Relationship Type="http://schemas.openxmlformats.org/officeDocument/2006/relationships/slide" Target="/ppt/slides/slide9.xml" Id="R1efe4943b4044e0f" /><Relationship Type="http://schemas.openxmlformats.org/officeDocument/2006/relationships/slide" Target="/ppt/slides/slide10.xml" Id="Rbd54f63262314bc6" /><Relationship Type="http://schemas.openxmlformats.org/officeDocument/2006/relationships/slide" Target="/ppt/slides/slide11.xml" Id="Rd43bb9c4da974b28" /><Relationship Type="http://schemas.openxmlformats.org/officeDocument/2006/relationships/slide" Target="/ppt/slides/slide12.xml" Id="R61f22baada804120" /><Relationship Type="http://schemas.openxmlformats.org/officeDocument/2006/relationships/slide" Target="/ppt/slides/slide13.xml" Id="R2fada671148b4203" /><Relationship Type="http://schemas.openxmlformats.org/officeDocument/2006/relationships/slide" Target="/ppt/slides/slide14.xml" Id="R8ca1efd8b24a47c7" /><Relationship Type="http://schemas.openxmlformats.org/officeDocument/2006/relationships/slide" Target="/ppt/slides/slide15.xml" Id="R6175be063e6945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540f5cdf49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56638040d84f5c" /><Relationship Type="http://schemas.openxmlformats.org/officeDocument/2006/relationships/notesMaster" Target="/ppt/notesMasters/notesMaster1.xml" Id="R231e5384801143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b417b88eaa4f86" /><Relationship Type="http://schemas.openxmlformats.org/officeDocument/2006/relationships/notesMaster" Target="/ppt/notesMasters/notesMaster1.xml" Id="R06c201083df14b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82bcf423ec4168" /><Relationship Type="http://schemas.openxmlformats.org/officeDocument/2006/relationships/notesMaster" Target="/ppt/notesMasters/notesMaster1.xml" Id="Re9eb4c7a83c240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1ff08cd4874a97" /><Relationship Type="http://schemas.openxmlformats.org/officeDocument/2006/relationships/notesMaster" Target="/ppt/notesMasters/notesMaster1.xml" Id="R7ae05453cc604f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51a1f8d4fe4555" /><Relationship Type="http://schemas.openxmlformats.org/officeDocument/2006/relationships/notesMaster" Target="/ppt/notesMasters/notesMaster1.xml" Id="R696532952e8c41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58a9c6c33c464b" /><Relationship Type="http://schemas.openxmlformats.org/officeDocument/2006/relationships/notesMaster" Target="/ppt/notesMasters/notesMaster1.xml" Id="R6472716b27684b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87f8b7946d433f" /><Relationship Type="http://schemas.openxmlformats.org/officeDocument/2006/relationships/notesMaster" Target="/ppt/notesMasters/notesMaster1.xml" Id="R8bf7648f6a8249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a654a124f94443" /><Relationship Type="http://schemas.openxmlformats.org/officeDocument/2006/relationships/notesMaster" Target="/ppt/notesMasters/notesMaster1.xml" Id="R3eeead098aba43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e8bf3a3101400e" /><Relationship Type="http://schemas.openxmlformats.org/officeDocument/2006/relationships/notesMaster" Target="/ppt/notesMasters/notesMaster1.xml" Id="R283ca8d38f3046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8f2c0ee57a4a56" /><Relationship Type="http://schemas.openxmlformats.org/officeDocument/2006/relationships/notesMaster" Target="/ppt/notesMasters/notesMaster1.xml" Id="R7ac52794666748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f396eb78444e12" /><Relationship Type="http://schemas.openxmlformats.org/officeDocument/2006/relationships/notesMaster" Target="/ppt/notesMasters/notesMaster1.xml" Id="R49a910027a7f4b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e525b4097c4e47" /><Relationship Type="http://schemas.openxmlformats.org/officeDocument/2006/relationships/notesMaster" Target="/ppt/notesMasters/notesMaster1.xml" Id="R21067a6ded9e4a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e06fa21cfc48e7" /><Relationship Type="http://schemas.openxmlformats.org/officeDocument/2006/relationships/notesMaster" Target="/ppt/notesMasters/notesMaster1.xml" Id="Rf33cbad4726048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e786b1a54747db" /><Relationship Type="http://schemas.openxmlformats.org/officeDocument/2006/relationships/notesMaster" Target="/ppt/notesMasters/notesMaster1.xml" Id="Rcc725bc3fabb40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4ccecda7324e13" /><Relationship Type="http://schemas.openxmlformats.org/officeDocument/2006/relationships/notesMaster" Target="/ppt/notesMasters/notesMaster1.xml" Id="R069ec4ab865444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organizational-amnesia.png,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4; terminology simplified for an executive audience.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Calculation corrected so the recurrence-prevention line applies the stated 30% reduction: 7.2 × 30h × 30% × JPY5,000 = JPY324,000.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Measurement framework proposed in the prior review; target values are illustrative PoC criteria, not OrgBrain production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plan names and price images in the Codex task, 2026-08-07. Plan positioning is an illustrative packaging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054991f4f4d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33b33127ea45cb" /><Relationship Type="http://schemas.openxmlformats.org/officeDocument/2006/relationships/slideLayout" Target="/ppt/slideLayouts/slideLayout1.xml" Id="R993eb690d317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3eb690d317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1c6de132b4dcf" /><Relationship Type="http://schemas.openxmlformats.org/officeDocument/2006/relationships/image" Target="/ppt/media/image.png" Id="R0b9ea721406146ea" /><Relationship Type="http://schemas.openxmlformats.org/officeDocument/2006/relationships/notesSlide" Target="/ppt/notesSlides/notesSlide1.xml" Id="Rdacd29c1adab49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b485d4af34cef" /><Relationship Type="http://schemas.openxmlformats.org/officeDocument/2006/relationships/notesSlide" Target="/ppt/notesSlides/notesSlide2.xml" Id="R6f51ec9532b14e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52d0086284d23" /><Relationship Type="http://schemas.openxmlformats.org/officeDocument/2006/relationships/image" Target="/ppt/media/image2.png" Id="Re8f4ceb6553b418b" /><Relationship Type="http://schemas.openxmlformats.org/officeDocument/2006/relationships/notesSlide" Target="/ppt/notesSlides/notesSlide3.xml" Id="Rae7c974a298d48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c1f248d8d4d16" /><Relationship Type="http://schemas.openxmlformats.org/officeDocument/2006/relationships/notesSlide" Target="/ppt/notesSlides/notesSlide4.xml" Id="Rc34a4d4d590240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a4cf7f37e42c5" /><Relationship Type="http://schemas.openxmlformats.org/officeDocument/2006/relationships/notesSlide" Target="/ppt/notesSlides/notesSlide5.xml" Id="R51c19fe58a814e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5f5fc995748a8" /><Relationship Type="http://schemas.openxmlformats.org/officeDocument/2006/relationships/notesSlide" Target="/ppt/notesSlides/notesSlide6.xml" Id="Rbe9a2036f0044f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63e4aad46494e" /><Relationship Type="http://schemas.openxmlformats.org/officeDocument/2006/relationships/notesSlide" Target="/ppt/notesSlides/notesSlide7.xml" Id="R46f010ba6f1d40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de4cdf2e447e2" /><Relationship Type="http://schemas.openxmlformats.org/officeDocument/2006/relationships/notesSlide" Target="/ppt/notesSlides/notesSlide8.xml" Id="Re0d4389dcbef4e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e28fc635a4676" /><Relationship Type="http://schemas.openxmlformats.org/officeDocument/2006/relationships/notesSlide" Target="/ppt/notesSlides/notesSlide9.xml" Id="Rb7af8e9cca094a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57680e5054afd" /><Relationship Type="http://schemas.openxmlformats.org/officeDocument/2006/relationships/notesSlide" Target="/ppt/notesSlides/notesSlide10.xml" Id="Rdffa1455e2a849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99131a1a7469a" /><Relationship Type="http://schemas.openxmlformats.org/officeDocument/2006/relationships/notesSlide" Target="/ppt/notesSlides/notesSlide11.xml" Id="R53a033a5f93240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72d0b7df0446e" /><Relationship Type="http://schemas.openxmlformats.org/officeDocument/2006/relationships/notesSlide" Target="/ppt/notesSlides/notesSlide12.xml" Id="R55bf0ee6bed24f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bf45de4704f79" /><Relationship Type="http://schemas.openxmlformats.org/officeDocument/2006/relationships/notesSlide" Target="/ppt/notesSlides/notesSlide13.xml" Id="R79fe33f449364a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7e84e966f4642" /><Relationship Type="http://schemas.openxmlformats.org/officeDocument/2006/relationships/notesSlide" Target="/ppt/notesSlides/notesSlide14.xml" Id="Raa0fd365de2c4a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c31d4ef8e46b9" /><Relationship Type="http://schemas.openxmlformats.org/officeDocument/2006/relationships/notesSlide" Target="/ppt/notesSlides/notesSlide15.xml" Id="R61c09a104e7946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ea721406146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4C9D6-C449-4E4C-820C-D7C3F32D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FE799-9F25-4B12-8D20-D5DA3CBB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794E3-ACCA-4C1C-81E0-904D70D4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AFC"/>
                </a:solidFill>
              </a:defRPr>
            </a:pPr>
            <a:r>
              <a:rPr sz="4050" b="1">
                <a:solidFill>
                  <a:srgbClr val="F7FAFC"/>
                </a:solidFill>
              </a:rPr>
              <a:t>判断の背景を、</a:t>
            </a:r>
          </a:p>
          <a:p xmlns:a="http://schemas.openxmlformats.org/drawingml/2006/main">
            <a:pPr algn="l">
              <a:defRPr sz="4050" b="1">
                <a:solidFill>
                  <a:srgbClr val="F7FAFC"/>
                </a:solidFill>
              </a:defRPr>
            </a:pPr>
            <a:r>
              <a:rPr sz="4050" b="1">
                <a:solidFill>
                  <a:srgbClr val="F7FAFC"/>
                </a:solidFill>
              </a:rPr>
              <a:t>次のAIが使える組織知へ。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44BF8-2D6D-4F9E-9AA1-33B59DB2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476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Slack・GitHub・Notionなどの仕事の痕跡から、</a:t>
            </a:r>
          </a:p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理由・制約・結果を記録し、次の判断に再利用します。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2AE1C-DACD-4407-B5AD-24E8A867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677A1-2E45-42E0-B318-671CE7CE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AIエージェントの組織記憶レイヤー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F9B11-345E-420C-AF80-FF7C7331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2022898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780AF-2BCA-4B81-BB4D-B1E98E8D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57318-CCC5-42B3-9513-9821D4B6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AIを増やすだけでは、組織は賢くならない。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814CE-BF06-4E8B-97C5-92AF06EE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19E09-1DD0-4166-92D2-86EBB9A6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B73D3-483A-4852-AD64-255DAB7D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CD310-81F1-491D-8302-1109178F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9E8FF"/>
                </a:solidFill>
              </a:defRPr>
            </a:pPr>
            <a:r>
              <a:rPr sz="1950" b="1">
                <a:solidFill>
                  <a:srgbClr val="89E8FF"/>
                </a:solidFill>
              </a:rPr>
              <a:t>AI実行は増える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83B6D-E3F4-49D9-9665-B6AF75EA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E0A0"/>
                </a:solidFill>
              </a:defRPr>
            </a:pPr>
            <a:r>
              <a:rPr sz="1950" b="1">
                <a:solidFill>
                  <a:srgbClr val="FFE0A0"/>
                </a:solidFill>
              </a:rPr>
              <a:t>判断理由は残らない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06C5B-12ED-4EB2-AD87-EB24AECA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次のAIはまたゼロから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07812-644D-4B74-9B2F-D538AF0F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DC6EF-9DB7-4A9B-867A-89A7D50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0CD26-B037-4903-B5E1-9DD1DFB2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BECF1-6181-43E6-98E7-0C1E113E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CONTEXT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855AE-4D4A-4C8B-B097-FD11A02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RESTART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D4E9F-6ECA-47A1-B57B-D5855EA5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57550"/>
            <a:ext cx="88011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1E3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ABF38-DC59-4849-9B0D-F146C8E2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242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7FAFC"/>
                </a:solidFill>
              </a:defRPr>
            </a:pPr>
            <a:r>
              <a:rPr sz="3000" b="1">
                <a:solidFill>
                  <a:srgbClr val="F7FAFC"/>
                </a:solidFill>
              </a:rPr>
              <a:t>実行を、組織学習に変える。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50C48-8DC5-4900-8E65-E98A3BC0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OrgBrainは、タスク間で失われる判断・失敗・依存関係を、次のAIが使える共有記憶に変えます。</a:t>
            </a:r>
          </a:p>
        </p:txBody>
      </p:sp>
    </p:spTree>
    <p:extLst>
      <p:ext uri="{BB962C8B-B14F-4D97-AF65-F5344CB8AC3E}">
        <p14:creationId xmlns:p14="http://schemas.microsoft.com/office/powerpoint/2010/main" val="371491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4ceb6553b418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E64BD-38E9-4289-A3DE-8F1FA4B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9DC83-AA81-4593-94FC-D48A6F4A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人が辞めるたび、会社が記憶喪失になる。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B8685-B60E-40F8-A5C4-1F40EF32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昨日の決定理由はログの奥へ。今日の担当者とAIは、またゼロから探し直します。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66C29-A5D2-4198-B4E8-47E92A35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D613D-F609-4310-A8C6-93510DC0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同じ失敗を繰り返すのは、人ではなく、組織が覚えていないから。</a:t>
            </a:r>
          </a:p>
        </p:txBody>
      </p:sp>
    </p:spTree>
    <p:extLst>
      <p:ext uri="{BB962C8B-B14F-4D97-AF65-F5344CB8AC3E}">
        <p14:creationId xmlns:p14="http://schemas.microsoft.com/office/powerpoint/2010/main" val="1835904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7BB87-C310-4B96-AC23-56EB1334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3AF00-9CE1-4FFB-8C62-8382A7A9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同じ質問に、毎回ゼロから答えている。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520E3-65CC-4181-A782-380F8BA1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A8D56-417E-4F84-B964-726B80FD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E3699-00C4-4651-B745-2EA8B56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41B09-7E96-471B-B02C-63244F00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WITHOUT ORGBRAIN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CF807-AD29-49A8-AFB9-49C9D4FD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WITH 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61E44-9343-4EF1-81D4-6244BE16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3FCF7-F446-4214-99E9-934B6DBF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353DA-0022-43EE-A7F4-35CC092D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Slackを30分検索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090F4-64FC-470E-ABD5-BF708FB1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DA184-A4D1-4A23-A822-D62A1C56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ACDCF-8AB2-4301-8518-7A20A5F7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当時の担当者に確認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42BF4-2780-4762-A0C8-F30B1EFD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9FC1E-D150-45C2-B139-A22C4C38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A73DE-A0E7-47A5-95BD-B71CD763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記憶を頼りに説明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D9675-503C-46E2-88DC-B1505A77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「なぜA社だけ例外仕様なの？」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F795C-7BBA-4428-954B-F28DD864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0166C-BB86-4109-BDA4-7AE293B2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A社のSAML要件により先行対応。</a:t>
            </a:r>
          </a:p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代替案Bは、納期と権限設計の制約で却下されました。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2D790-B9D2-4B55-B025-08700F90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8BE9D-6AD9-4513-8706-3BF1E6DB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理由・制約・却下案・出典をセットで提示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EB835A-126C-4E35-A53E-B043CB93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96C46-C48C-4135-B800-F93A991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1332172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FE27A0-2336-4D2B-BDD7-9280DFA3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44F07-0D01-4063-A53D-AF96FE57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普段の仕事が、そのまま組織の記憶になる。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40DE8-3077-4E78-BCF5-D54644DE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FB2D6-64B5-4A8D-8906-44F6B5E6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C0FD7-3058-4933-9508-232F20A4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073C3-05C1-4144-9CD6-E9B9FDC4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追加入力を求めず、既存の仕事の痕跡から必要な文脈を整理します。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05FCD-DC65-4E9E-9DA6-DB5C6F94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2D38B-231D-4F89-A59C-065A1EFD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B3859-70D5-407E-AAB0-270E1FAE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6A434-236F-479D-9000-2E80F008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D89EF-B228-4023-B6F6-0161C1A3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C"/>
                </a:solidFill>
              </a:defRPr>
            </a:pPr>
            <a:r>
              <a:rPr sz="1950" b="1">
                <a:solidFill>
                  <a:srgbClr val="F7FAFC"/>
                </a:solidFill>
              </a:rPr>
              <a:t>仕事の痕跡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F0E2A-ADBE-4E05-8722-4786CC90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Slack  /  GitHub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Notion  /  AI実行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EBAAB-DC9D-4BC3-9C5E-E9BB86D3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F7F0F-1073-4F94-B348-5C29D495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E98BD-33D4-49A3-8927-2FFB0CA5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組織記憶レイヤー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C38A7-05DF-42FA-AF27-E694681A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理由・関係・履歴を構造化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927DD-6443-40CC-AA32-E1E55780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B52EF-E2D3-4003-8D36-F1B3B6F2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86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C"/>
                </a:solidFill>
              </a:defRPr>
            </a:pPr>
            <a:r>
              <a:rPr sz="1950" b="1">
                <a:solidFill>
                  <a:srgbClr val="F7FAFC"/>
                </a:solidFill>
              </a:rPr>
              <a:t>次のAI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C6F53-74FB-4817-A651-5E01948D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8B3F4-4EA2-4C93-88FC-FEFC5F0F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C6E5C-64C8-4292-A457-D69334D7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記録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FBC1E-4CB0-44B3-99D8-F8356557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27DA4-9FB4-4504-BF8B-841E6D9F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15D40-A4C0-4533-AB38-B49B7065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選別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26FDE-FF79-4D3A-9CA5-D6275DDB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E1273-9B53-4F29-BE1E-BE29BD3A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500D91-A6AB-4516-81D7-755583C7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接続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9638FA-1981-45BB-9E37-D129CAC7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F63AC8-7AA9-4A1E-AE63-C0B2E9B4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F4ABF-CC43-4BCA-9EBF-F5BD2158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想起</a:t>
            </a:r>
          </a:p>
        </p:txBody>
      </p:sp>
    </p:spTree>
    <p:extLst>
      <p:ext uri="{BB962C8B-B14F-4D97-AF65-F5344CB8AC3E}">
        <p14:creationId xmlns:p14="http://schemas.microsoft.com/office/powerpoint/2010/main" val="758531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96F4FD-F35B-4368-94F6-A09D2064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9FB60-666D-454A-B92B-41B1454D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4つの引き出しが、必要な文脈を選び出す。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960D5-59F8-4977-AA73-85288CF2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56DC7-90AE-417C-B623-14BE31C6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96861-5F35-413B-ACE6-FADF3528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A387B-545E-4892-A269-4616EC56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8A7C8-607D-460A-9F8B-4577B5C9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A9314-219F-4E95-946E-34044C0C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43358-A2B4-4C9F-B8F6-678CD2CA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なぜ・代替案・決定者・出典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A6CAD-2903-47B7-AA63-D8BA3CFF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9F517-2D47-4203-ABE9-79C66515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27656-46CB-4672-8844-C65C1F3D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チーム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677AD-9E69-49E6-BD15-783CFA64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役割・方針・顧客固有の約束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99463-604D-4F3E-B29B-4795FDD6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19856-E33B-4B09-8AE0-01DABD4C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6D972-7751-4AB7-A138-E695AFD1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進捗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3809D-F41A-4158-B448-52728A69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現在地・ブロッカー・次の行動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3EF61-4479-4CFA-9E8A-DA33CD22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AFEBA-3B11-41EA-AC23-AB2593D1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F4B4C-E49F-4820-A63B-B8DCBD3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履歴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44C11-8EBE-4B85-BD6B-03CFBEA6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いつ・何が変わり・どうなったか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5965B-1B86-4D0E-870A-35A250DD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AIの質問に応じて、対象・関係者・現在地・過去を組み合わせます。</a:t>
            </a:r>
          </a:p>
        </p:txBody>
      </p:sp>
    </p:spTree>
    <p:extLst>
      <p:ext uri="{BB962C8B-B14F-4D97-AF65-F5344CB8AC3E}">
        <p14:creationId xmlns:p14="http://schemas.microsoft.com/office/powerpoint/2010/main" val="1417980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2D9AC-FDE3-459F-9B12-9CB7DBB7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7D1BC-609B-4FA4-9D30-E50FBF20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結論だけでなく、理由・制約・出典まで残す。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9ADEA-FF6B-4C89-A472-63EFF719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3C03B-B944-4765-8B7A-4DEBB242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6DBBC-2D55-4196-98BC-1E75F06C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F76B2-7B21-4126-A2E2-C5F531A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F5282-292E-4A86-A678-2B3088D3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A社だけSAML対応を先行する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724F8-BD0C-4F3A-B7E2-41D3881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00730-0B63-4C3F-9FFB-2B94C539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00F6B-AC46-466A-884D-943CE708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E9542-D1D6-470C-BE1C-D4B02558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ADBFA-4B41-4373-9F3F-1535A4E3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11854-EA27-4A87-B28E-6D4F45F0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EA56-036F-45B6-AA4A-F27DF18A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全顧客向け同時リリースは納期超過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F2765-38F5-4FC5-A7B4-A3D60240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26C46-FF54-431C-98ED-7ADBBC9E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BB056-9246-4D61-B561-EB7B5B93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2449F-81D4-4D91-8B21-6B76BC28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次のAIが</a:t>
            </a:r>
          </a:p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B345F-349D-47D5-B33D-67A3C919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95C05-083A-49AB-8D94-4BB483D0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7BB23-A18F-4F11-B5F8-0190F6BE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17550298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99B616-7657-40BB-B7D0-EB3EBBB0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B5BC3-FD3D-439C-BA0F-653D84A4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代表4職種で、日常の“探し直し”を減らす。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8A8C4-BE96-4104-B825-B46217AC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8FB5E-AB43-41FE-84DE-7CC946ED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03BD0-AC2B-4CDC-936A-19321FDA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4F7D5-9991-40DA-9C88-B646F8A7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1人当たり・月の削減時間（試算イメージ）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A72AB-6F10-4F46-8AE0-867BF9D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開発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C37EA-732F-4D1A-96FE-6E155CBA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3D3FF"/>
                </a:solidFill>
              </a:defRPr>
            </a:pPr>
            <a:r>
              <a:rPr sz="37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C97A3-ED31-40F0-9F7C-7663E7B1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C35A0-303C-4847-B365-79F5209E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過去の制約・実装理由を想起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7E3EA-EE09-4414-9879-F85BD711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AF3B3-DD51-4B4B-8552-1CBE734C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859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プロダクト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4FAA8-FD27-40BB-ABAA-CC5E31E4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3D3FF"/>
                </a:solidFill>
              </a:defRPr>
            </a:pPr>
            <a:r>
              <a:rPr sz="37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F4A55-A93F-4268-8D68-38F3D452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E90F8-7930-4BFF-BE13-8C3AD0B6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624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判断背景と却下案を即座に把握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9B6B9-F3CF-42E7-8B20-A39CE0FF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F2EAE-4076-4DC2-8BD3-1EC0B4D6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2D20E-F4E2-40DF-965F-3B72BBEE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3D3FF"/>
                </a:solidFill>
              </a:defRPr>
            </a:pPr>
            <a:r>
              <a:rPr sz="37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8308B-982C-48A0-9E43-49DE88C5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CE22D-1D6D-4254-BACA-2897E661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顧客固有の合意に反する提案を防止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27D80-226E-4930-BE4E-73D65050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53ABCC-9EF5-4691-B440-28D68540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859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5EC55-5077-4DFB-96B8-6EF438C7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43D3FF"/>
                </a:solidFill>
              </a:defRPr>
            </a:pPr>
            <a:r>
              <a:rPr sz="37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ADC34-55D7-460B-8606-3618A85D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DC425-EBBD-4597-A9A4-C76F82B7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624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例外承認の基準を一貫して適用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1A73C-52CD-40AA-B7A9-C699F823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751B84-530E-4BED-9E8A-B5AD38CE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加えて、AIの再検索・再推論を減らし、完了タスク当たりのトークン効率も改善します。</a:t>
            </a:r>
          </a:p>
        </p:txBody>
      </p:sp>
    </p:spTree>
    <p:extLst>
      <p:ext uri="{BB962C8B-B14F-4D97-AF65-F5344CB8AC3E}">
        <p14:creationId xmlns:p14="http://schemas.microsoft.com/office/powerpoint/2010/main" val="171626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BEB86-F4A0-4D00-9B77-BFDEB149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4EB65-BD9D-4971-85D5-BD1225C4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100人組織で、年間約2,700万円の改善余地。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D6D32-3E61-4E0E-BCA9-CB8A78CF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ED74C-4987-4949-8FB6-75F856CB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D3BE4-ABE9-481B-A022-224FA63C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5091A-0E88-4541-A2EB-AFA3D327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2,732万円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B8FCD-F88B-44BA-BAFD-5B10BCE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716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5,465時間相当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4E2EB-B854-47B9-9D2B-8B1C7C07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再調査の削減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B2421-31CD-4824-8D6B-C5C7AE33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5429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66985-AD2A-4FA4-A5A2-9A04A04A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4095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870C1-B2A5-424C-B4AF-4C54232F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43D3FF"/>
                </a:solidFill>
              </a:defRPr>
            </a:pPr>
            <a:r>
              <a:rPr sz="1875" b="1">
                <a:solidFill>
                  <a:srgbClr val="43D3FF"/>
                </a:solidFill>
              </a:rPr>
              <a:t>1,200万円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F0708-B097-47D6-BC93-5783027E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42722-9754-470C-B736-1FFB332E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ドキュメント整理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F4ED7-4B70-4760-9DB4-8DC8BB4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05225"/>
            <a:ext cx="5429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94195-FA82-4E6C-A460-23D6C5F2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05225"/>
            <a:ext cx="495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9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809FD-717A-4FFA-8B1F-D976C1C8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0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89E8FF"/>
                </a:solidFill>
              </a:defRPr>
            </a:pPr>
            <a:r>
              <a:rPr sz="1875" b="1">
                <a:solidFill>
                  <a:srgbClr val="89E8FF"/>
                </a:solidFill>
              </a:rPr>
              <a:t>1,500万円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4F431-B68B-4C5C-B827-31230A23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0.5h × 月5回 × 12か月 × 100人 × 5,000円/h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9FDE0-63CE-4F8D-AE72-6AA931D6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同じ失敗の防止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2F5E7-469A-4225-85EA-F796B5E8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95825"/>
            <a:ext cx="5429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A8322-983B-4016-97E7-01873EF2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95825"/>
            <a:ext cx="1333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B51C1-4802-4E08-8D4F-E73D7781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4BE55"/>
                </a:solidFill>
              </a:defRPr>
            </a:pPr>
            <a:r>
              <a:rPr sz="1875" b="1">
                <a:solidFill>
                  <a:srgbClr val="F4BE55"/>
                </a:solidFill>
              </a:rPr>
              <a:t>32.4万円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6A7C2-EDAD-4451-BA8E-307B2E0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年7.2件 × 30h × 30%削減 × 5,000円/h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8A12F-6DEB-4E1B-897B-D975B8FC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前提：平均人件費5,000円/h。導入率・定着率・利用範囲により効果は変動します。</a:t>
            </a:r>
          </a:p>
        </p:txBody>
      </p:sp>
    </p:spTree>
    <p:extLst>
      <p:ext uri="{BB962C8B-B14F-4D97-AF65-F5344CB8AC3E}">
        <p14:creationId xmlns:p14="http://schemas.microsoft.com/office/powerpoint/2010/main" val="401625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77DD0A-D72F-42E2-B894-9B4B69D5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74B9C-360C-4532-9BC8-DDF9068A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効果は、システムログで検証できる。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D0DEE-90F9-409E-9F3C-D72BFE92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27961-F079-4DA6-BF4F-1A49D831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FA10B-A080-453E-86AE-249F9056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D2640-219E-4937-9413-6DB2C292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PoCの暫定合格基準例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88605-52AC-4A68-8653-ADAB4DE9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検索・確認時間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0A984-27F8-420D-84A5-478588A9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71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3D3FF"/>
                </a:solidFill>
              </a:defRPr>
            </a:pPr>
            <a:r>
              <a:rPr sz="1800" b="1">
                <a:solidFill>
                  <a:srgbClr val="43D3FF"/>
                </a:solidFill>
              </a:rPr>
              <a:t>30%以上削減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BA561-6747-489B-B0A2-47862084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導入前後の対象タスク中央値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FDDFF-9673-4807-8B08-0296F3AD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43306-6147-4D8D-98B4-D8393A9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有用想起率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4A30B-1038-47CE-BDA2-FB0FCBF3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52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3D3FF"/>
                </a:solidFill>
              </a:defRPr>
            </a:pPr>
            <a:r>
              <a:rPr sz="1800" b="1">
                <a:solidFill>
                  <a:srgbClr val="43D3FF"/>
                </a:solidFill>
              </a:rPr>
              <a:t>70%以上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20085-BE48-4B7D-8AE9-865AB903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提示された記憶の採用・参照率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6DFB7-39C7-4A5B-8D6C-00EA844A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38475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590B3-AFF3-415A-9898-DCB2BE5F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理由・出典付与率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28EE9-003C-494A-81AD-89C8C244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33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3D3FF"/>
                </a:solidFill>
              </a:defRPr>
            </a:pPr>
            <a:r>
              <a:rPr sz="1800" b="1">
                <a:solidFill>
                  <a:srgbClr val="43D3FF"/>
                </a:solidFill>
              </a:rPr>
              <a:t>90%以上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636C0-800E-43AA-88A1-46FFD45F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理由・出典・日時が揃った記憶の割合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D08B6-BFF1-4806-AE6F-F7127620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1F491-9CFA-4C9F-9018-6F91BBBC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同一原因の手戻り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F3FF3-2A5F-46F3-97F7-5403653C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14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3D3FF"/>
                </a:solidFill>
              </a:defRPr>
            </a:pPr>
            <a:r>
              <a:rPr sz="1800" b="1">
                <a:solidFill>
                  <a:srgbClr val="43D3FF"/>
                </a:solidFill>
              </a:rPr>
              <a:t>20%以上削減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514CD-F416-43C4-9402-706B5866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同じ原因による障害・差し戻し件数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5F409-94D2-4479-8094-E80DCBD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E154D-8495-493A-A702-A6088087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権限外情報の提示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6C9D2-F1A1-457B-B7C4-33D53046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95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D6A3"/>
                </a:solidFill>
              </a:defRPr>
            </a:pPr>
            <a:r>
              <a:rPr sz="1800" b="1">
                <a:solidFill>
                  <a:srgbClr val="56D6A3"/>
                </a:solidFill>
              </a:rPr>
              <a:t>0件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2C2EC-9F43-4C81-8F70-BAA9ECED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95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監査ログで継続確認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A09EFB-F447-4E8C-B12B-1D85D261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※上記はPoC目標の例であり、実績値ではありません。対象業務とベースラインに合わせて設定します。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28678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69A96-BDA6-43CC-95B3-4EAEB7CB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41A2E-3ACA-434A-886B-E0AB894B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人数ではなく、組織メモリーの利用範囲で課金する。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E0F32-4BC1-4478-BE4F-D21F9459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D14CB-E3B7-45BD-9960-871E0B8D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8DA03-0DDF-444D-8F8F-25D50497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7C099-9AC9-4335-AD56-8F80EB50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B4C7"/>
                </a:solidFill>
              </a:defRPr>
            </a:pPr>
            <a:r>
              <a:rPr sz="1650" b="1">
                <a:solidFill>
                  <a:srgbClr val="A8B4C7"/>
                </a:solidFill>
              </a:rPr>
              <a:t>一般的なSaaS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2F626-5AA3-472A-A31A-E120BAF0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FFC81-FC94-42CF-9E2F-30EEAF1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000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51C"/>
          </a:solidFill>
          <a:ln xmlns:a="http://schemas.openxmlformats.org/drawingml/2006/main" w="9525">
            <a:solidFill>
              <a:srgbClr val="3B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4419C-7938-46CB-9DB2-891970C5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7EEF8"/>
                </a:solidFill>
              </a:defRPr>
            </a:pPr>
            <a:r>
              <a:rPr sz="2400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8EA47-97C0-4982-BB20-6F65620C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利用を広げるほどコストが増える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A51D3-23AA-495B-AF5A-A070DED1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3D3FF"/>
                </a:solidFill>
              </a:defRPr>
            </a:pPr>
            <a:r>
              <a:rPr sz="3150" b="1">
                <a:solidFill>
                  <a:srgbClr val="43D3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D2CAC-BF71-48FD-A2B3-461C7BC3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4000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C2333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46293-F22C-4D9C-A250-E5BF5934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43200"/>
            <a:ext cx="346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組織基本料 ＋ 利用範囲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B0942-644D-457D-8502-CB14DA7A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718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全社員・全AIが利用可能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32865-1FF4-4723-B58E-FACE28DD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4488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AB59A-F5CF-4998-BC12-BA8E8ADC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全社で使うほど、記憶のつながりと1人当たりの価値が大きくなる。</a:t>
            </a:r>
          </a:p>
        </p:txBody>
      </p:sp>
    </p:spTree>
    <p:extLst>
      <p:ext uri="{BB962C8B-B14F-4D97-AF65-F5344CB8AC3E}">
        <p14:creationId xmlns:p14="http://schemas.microsoft.com/office/powerpoint/2010/main" val="12522347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9780A4-DCCD-4896-B9C1-CF7A339D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1BB17-BFDB-4D63-8B9E-B3E048FF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4つの基本プランで、チームから全社展開まで。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B750C-D375-4AF2-9889-FCEF14AA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BE615-59DF-4CB8-BDD9-5E978BB5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4D68D-63A1-460F-859B-E98A1849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12A55-43B2-4782-B15B-E10BD71A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基本料金はOrganization単位。全社員・全AIの利用を含みます。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AD445-E9C2-4653-8FEC-90EE7C6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200C4-27E1-4121-985A-124D2F01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3〜5万円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AFF36-CAEF-4E3F-984F-081DD2A2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9E0AE-7D20-413D-9CF5-A690BF6F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小規模チーム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F8344-0D61-484B-B0E6-5BACFA40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共有メモリーを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小さく始める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C1E9F-C45D-4F41-9839-0F785CDC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88459-E385-408E-B79E-6EC5FAF6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COMPANY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C8CA1-B70E-4761-B399-18743344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10〜20万円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84A56-96FB-4734-906E-759F90D0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CFD88-DA4A-4AFD-8A11-39B977A1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複数部門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F4773-104D-4295-ACEE-34A1DC72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AdapterとDomainを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段階的に拡張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514F0-EF7B-45F8-8695-14E1E175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20532-881B-444C-B259-EEAF2A8F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8D027-437E-4466-9AB8-24DA83E5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ENTERPRISE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78AEA-50CA-483A-B6DA-8E46C14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30〜50万円〜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FCAB7-BDE1-4925-8113-E055D0DB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C4837-7BC9-4E10-9AAD-AA418FD8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全社利用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EF588-4637-41E2-949E-C166056D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高度な権限・監査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SLAに対応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D6817-169D-4EEA-98C3-EE638337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C557D-5F23-4B97-8EA6-C21EF29E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72A825-1BFC-42D7-9D88-E6E89A6C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100万円〜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65B54-B3AA-49F9-BAC0-F144459B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280285-BF98-4CA2-B8EE-B53DECE0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グループ・専用環境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5B4692-AFFE-41B3-9C5F-87261495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個別要件と専用運用を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包括提供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5BEB64-FBF9-4F11-AFAA-33EC1C84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価格は利用範囲・セキュリティ要件・運用形態に応じたイメージです。</a:t>
            </a:r>
          </a:p>
        </p:txBody>
      </p:sp>
    </p:spTree>
    <p:extLst>
      <p:ext uri="{BB962C8B-B14F-4D97-AF65-F5344CB8AC3E}">
        <p14:creationId xmlns:p14="http://schemas.microsoft.com/office/powerpoint/2010/main" val="2668289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144D36-0EA6-4DC8-AE6F-41842EDF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6F66C-CF61-4E82-B0B2-DA08A234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基本料金の上に、使う範囲だけを追加する。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258AB-9179-4B79-AE69-1A62BAF8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4FB20-034B-476B-9026-3A0FFDF9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12725-94D0-4BE0-B271-70D48688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C7E0F-02FA-4A73-9EA1-7264BDC4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10591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B5ADC-0A18-4424-AB3B-EB78EE77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Organization基本料金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69BC5-8D54-4DD5-8CD4-83B28479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954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全社員・全AI / コア機能 / 基本メモリー容量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FED08-443C-458D-8417-09141F8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9C1C8-66DC-4FE4-AA73-3F8713D9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接続を増やす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483B9-F336-4CFE-8DF6-6F538AC4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Slack・Notion・GitHub・Salesforce・Teams など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8B03F-904E-43FD-A0F1-41507682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C0985-EFFF-4B28-8AC9-8D9E2755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64F1A-82E3-4B3F-BB07-818F936F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知識領域を広げる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2CA3F-FC5D-4489-BB17-3EADC91E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Engineering Brain・Sales Brain・Management Brain など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D1248-BC66-4314-A63F-387CB376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D1D5D-BC8B-42F6-B537-BB0B2CA6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B409F-0BD9-4E14-A18F-7C23D0D3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高度処理を使う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B94C3-0587-47E9-822C-E12D31E8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195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矛盾検知・資料修正・統合・分析などを従量課金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AEB0B-FACB-427F-B440-52EA9A0C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79D06-0A46-4718-BE5F-505ABA0E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GOVERNANCE /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A5965-3051-4F7F-BAC6-6BCED2C7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統制を深める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DEB21-9D56-49EC-AE73-E8035A91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高度な権限・監査・SLA・専用環境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D6BC7-5CCB-42E6-9F9A-3A22867D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5918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17E53-4069-4FA3-B4E2-4B0AEFDF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38825"/>
            <a:ext cx="1013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Memory容量は一定量まで基本料金込み。超過時のみ追加課金。</a:t>
            </a:r>
          </a:p>
        </p:txBody>
      </p:sp>
    </p:spTree>
    <p:extLst>
      <p:ext uri="{BB962C8B-B14F-4D97-AF65-F5344CB8AC3E}">
        <p14:creationId xmlns:p14="http://schemas.microsoft.com/office/powerpoint/2010/main" val="19237301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C45D8-3A07-420D-A00F-16C824DE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FAE33-5E5D-4D5D-BB3C-F36F8203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運用負担と統制要件に合わせて、利用形態を選べる。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A22F9-E41B-4D17-8B73-828FAEA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24250-1D21-45E5-879A-13B6EB54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4DBEB-F70C-41E6-B67F-BCB00869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2F121-03D6-483E-AAD7-0BF283E0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BE03D-C759-44F5-A261-32BD9C78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51DE9-B2A1-4C0B-BC28-0CBF3891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0798A-CD9E-45E5-9D60-F50E0187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1255F-6F93-4AEE-B0A9-BD285C48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7F37D-2965-4033-A46D-C4DC99AC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19A42-93BA-405F-BF5F-DBBB1EA4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E3C45-65CF-436E-BDE3-C3C6599C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A9FDA-B2E6-46FA-A4A3-AC7F71AA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E1934-15BC-4B6E-A63C-92505C8F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0058B-AB2A-43BB-96EA-6C52C256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E18BE-7BFC-44B4-9CA3-35D670C1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1E05C-C03B-4EEB-93AD-1E18A8D7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E65C0-F80E-4B6E-B8EB-D90485F0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0576B-C7C1-42C1-8589-6938AF8F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FC17E-6DC1-4FAD-B5DA-10768AB6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Local-firstで始め、必要になった時に共有・統制・運用支援を拡張できます。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2425291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5CC80-DE18-4F5D-831E-C5AADC2C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FA5E1-FF66-449D-A164-B5D228B7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まずは1チーム、8週間で価値を測る。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3C555-A371-47C2-BC51-9CCB1589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D04E7-4F6C-48DB-AC77-4256C8F6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BA26E-7B1F-41A6-9725-360BD69C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64F12-DC61-482E-9AF9-E990C7B0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導入前後を比較し、継続判断に必要なROIとリスクを可視化します。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F9499-71E2-4AE0-A3DC-0D0D5302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F7A2F-B8A3-488E-906A-424B06FE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83B91-C1D6-471C-9898-00D933B1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5F757-2B2D-40F9-B0B6-39D847E9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2113A-1FE9-4339-AF28-1D4AA089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F6AF0-23F8-49F2-BEF7-C8CBC336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87590-B406-49C2-9E17-FC77B0BB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18C24-7A53-40E6-AE3E-876C1313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2946D-30F2-4308-A65C-CD427FCC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1〜2 Adapterを接続し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1E3AB-2E0F-45A5-BFEE-524A326D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819FB-3116-4E4F-AC8C-59C7775B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FDCE0-9AB4-4D77-84E8-E30C3B06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5886B-3482-4172-864E-1E9F0A8C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D1906-4BA5-41C6-BC95-C25A0D23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D6294-6766-4528-9764-F3F1D9F7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SlackまたはGitHubを接続し、“探し直し”がどれだけ減るかを実測する。</a:t>
            </a:r>
          </a:p>
        </p:txBody>
      </p:sp>
    </p:spTree>
    <p:extLst>
      <p:ext uri="{BB962C8B-B14F-4D97-AF65-F5344CB8AC3E}">
        <p14:creationId xmlns:p14="http://schemas.microsoft.com/office/powerpoint/2010/main" val="1306929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2026-08-07T08:30:39.9800000Z</dcterms:created>
  <dcterms:modified xsi:type="dcterms:W3CDTF">2026-08-07T08:30:39.9800000Z</dcterms:modified>
</coreProperties>
</file>